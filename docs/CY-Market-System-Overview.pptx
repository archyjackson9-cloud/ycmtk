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deck explains what CY-Market is today, what customers and staff can do, how it is built, what the recent audit found, and what we need to decide next. Everything here is taken from the code and the audit reports in docs/audit; where something is planned but not built, the slide says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CY-Market is a single-seller shop, not a marketplace. The storefront positions it as farm direct. The pilot delivery zone name comes from configuration and defaults to Tarkwa and Surrounding Communities. The goals listed are derived from how the checkout, payment and order tracking features work today; the full Terms of Reference document was not re-read for this deck, so check it for the formal goal wording.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Customers browse by category and search, add items to a cart and check out, either as a guest or signed in. The payment method available today is manual pay by transfer: the customer sends money, uploads proof, and staff confirm it. Orders can be tracked with the order number and phone number, or from My Orders when signed in. Notifications go out by SMS, email and in-app bell. The site can be installed as a PWA. Be clear with stakeholders: reviews and wishlist exist only as database tables and models, with no customer pages yet, and MTN MoMo online payment is built but disabled in the interface.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Menu groups come straight from the admin panel: Sales has Orders and Payments; Catalogue has Products, Categories and Stock Movements; Marketing has Banners; Administration has Delivery Zones, Settings, Reports, Customers, Users and Notification Logs. Roles are Super Admin, Inventory Officer, Marketing Admin and Support Agent, using the Spatie permission package. Coupons exist in the checkout but there is no admin screen to manage them. Important: the audit found that role limits are not fully enforced on Users, Customers, Categories, Delivery Zones and Banners; see slide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is a modular monolith: one Laravel 13 application with a Blade storefront styled with Tailwind 4 and built with Vite, and a Filament 3 admin panel. Roles use spatie/laravel-permission. Business logic lives in services for cart, checkout, orders, stock, payments, notifications and reporting. It runs in Docker: an Apache and PHP container, a scheduler container, a queue worker container that currently has nothing to do, and MySQL 8, with Caddy in front for HTTPS. Sessions, cache and queue all use the database. SMS and email are sent immediately, not queued. MTN MoMo online payment is fully coded but switched off in the interface. CI builds and pushes the Docker image to GHCR on every push to main, but no automated tests run in that pipeline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Checkout runs as one database transaction: it creates the order and its items, reserves stock, and creates a payment record. The order starts as Pending Payment. When staff confirm the transfer, the order becomes Paid and the reserved stock is consumed. Staff then move it to Processing, Dispatched, Delivered and Completed. Cancelled and On Hold are the exits. Every status change is written to the order status history and every stock change to the stock movement ledger, which gives us an audit trail. Note: nothing moves orders to Completed automatically; that is a manual step today. Reservations that are not paid within the hold time are released by a scheduled job (24 hours by default for manual payment, per the audit).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homepage improvements. First, featured categories are now image cards instead of small icons. Second, the hero banner area is now a slider that shows every live banner, with dot navigation, automatic advance every six seconds, and a hover effect that lightens the overlay so the image is clearer. Text is given a shadow so it stays readable. These changes are in the working tree (the home page view is modified and a new HomeHeroBannerTest exists) but are not committed yet as of this writing, and I did not run the tests. Hover fading applies only on devices that support hover, so on phones the overlay stays.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headline risks from docs/audit/architecture.md and security.md, found by reading the code; nothing was exploited. One: free goods. Because the payment test mode is the default, a customer can mark their own transfer payment as paid. Two: a payment confirmed after an order was cancelled brings it back to life and deducts stock. Three: overselling, because stock is not checked under a lock at checkout. Four: any staff role can edit users and could make themselves Super Admin. Five: a file called api.php in the project root contains a payment provider key in plain text. It is untracked, but not ignored by git or Docker, so it could be published by accident; the key should be rotated. The security review rates the key High and the admin gap Critical, while the architecture audit lists the first three as Critical. Other items not shown: no rate limiting, manual payments do not verify the amount, default seeded admin password, refunds only logged, CI without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audit groups the work into four phases. Phase A must happen before any real customer traffic: it closes the critical payment, stock and permission holes. Phase B makes the pilot correct and observable: queued notifications, failed payments handled properly, private payment proofs, automated tests in CI, and staff alerts. Phase C is money correctness and resilience: refunds and credits, coupon tracking, faster reports, Redis, backups and a staging environment, and only then re-enabling MoMo. Phase D is Phase 2 product scope, which needs design first, in particular product variants, which is best decided before real stock data accumulates. No effort estimates exist in the audit, so none are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decisions. The owner needs to approve Phase A as a launch gate and answer a few policy questions: manual transfers only or MoMo soon; who can confirm payments and whether large amounts need a second approver; how long to hold stock for unpaid transfers (the audit suggests a short initial hold, such as two hours, extended once proof is uploaded); and whether to build product variants before the pilot. The immediate actions on the right come from the security review: rotate the key, change seeded admin passwords, switch off simulate payment mode, and start the Phase A fixes with regression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52312"/>
        </a:solidFill>
      </p:bgPr>
    </p:bg>
    <p:spTree>
      <p:nvGrpSpPr>
        <p:cNvPr id="1" name=""/>
        <p:cNvGrpSpPr/>
        <p:nvPr/>
      </p:nvGrpSpPr>
      <p:grpSpPr>
        <a:xfrm>
          <a:off x="0" y="0"/>
          <a:ext cx="0" cy="0"/>
          <a:chOff x="0" y="0"/>
          <a:chExt cx="0" cy="0"/>
        </a:xfrm>
      </p:grpSpPr>
      <p:sp>
        <p:nvSpPr>
          <p:cNvPr id="2" name="Shape 0"/>
          <p:cNvSpPr/>
          <p:nvPr/>
        </p:nvSpPr>
        <p:spPr>
          <a:xfrm>
            <a:off x="6035040" y="-1097280"/>
            <a:ext cx="4572000" cy="4572000"/>
          </a:xfrm>
          <a:prstGeom prst="ellipse">
            <a:avLst/>
          </a:prstGeom>
          <a:solidFill>
            <a:srgbClr val="14532D">
              <a:alpha val="70000"/>
            </a:srgbClr>
          </a:solidFill>
          <a:ln w="12700">
            <a:solidFill>
              <a:srgbClr val="14532D">
                <a:alpha val="0"/>
              </a:srgbClr>
            </a:solidFill>
            <a:prstDash val="solid"/>
          </a:ln>
        </p:spPr>
      </p:sp>
      <p:sp>
        <p:nvSpPr>
          <p:cNvPr id="3" name="Shape 1"/>
          <p:cNvSpPr/>
          <p:nvPr/>
        </p:nvSpPr>
        <p:spPr>
          <a:xfrm>
            <a:off x="6949440" y="2926080"/>
            <a:ext cx="3291840" cy="3291840"/>
          </a:xfrm>
          <a:prstGeom prst="ellipse">
            <a:avLst/>
          </a:prstGeom>
          <a:solidFill>
            <a:srgbClr val="15803D">
              <a:alpha val="40000"/>
            </a:srgbClr>
          </a:solidFill>
          <a:ln w="12700">
            <a:solidFill>
              <a:srgbClr val="15803D">
                <a:alpha val="0"/>
              </a:srgbClr>
            </a:solidFill>
            <a:prstDash val="solid"/>
          </a:ln>
        </p:spPr>
      </p:sp>
      <p:sp>
        <p:nvSpPr>
          <p:cNvPr id="4" name="Text 2"/>
          <p:cNvSpPr/>
          <p:nvPr/>
        </p:nvSpPr>
        <p:spPr>
          <a:xfrm>
            <a:off x="640080" y="1188720"/>
            <a:ext cx="7315200" cy="914400"/>
          </a:xfrm>
          <a:prstGeom prst="rect">
            <a:avLst/>
          </a:prstGeom>
          <a:noFill/>
          <a:ln/>
        </p:spPr>
        <p:txBody>
          <a:bodyPr wrap="square" lIns="0" tIns="0" rIns="0" bIns="0" rtlCol="0" anchor="ctr"/>
          <a:lstStyle/>
          <a:p>
            <a:pPr indent="0" marL="0">
              <a:buNone/>
            </a:pPr>
            <a:r>
              <a:rPr lang="en-US" sz="6000" b="1" dirty="0">
                <a:solidFill>
                  <a:srgbClr val="FFFFFF"/>
                </a:solidFill>
                <a:latin typeface="Calibri" pitchFamily="34" charset="0"/>
                <a:ea typeface="Calibri" pitchFamily="34" charset="-122"/>
                <a:cs typeface="Calibri" pitchFamily="34" charset="-120"/>
              </a:rPr>
              <a:t>CY-Market</a:t>
            </a:r>
            <a:endParaRPr lang="en-US" sz="6000" dirty="0"/>
          </a:p>
        </p:txBody>
      </p:sp>
      <p:sp>
        <p:nvSpPr>
          <p:cNvPr id="5" name="Text 3"/>
          <p:cNvSpPr/>
          <p:nvPr/>
        </p:nvSpPr>
        <p:spPr>
          <a:xfrm>
            <a:off x="640080" y="2194560"/>
            <a:ext cx="6583680" cy="822960"/>
          </a:xfrm>
          <a:prstGeom prst="rect">
            <a:avLst/>
          </a:prstGeom>
          <a:noFill/>
          <a:ln/>
        </p:spPr>
        <p:txBody>
          <a:bodyPr wrap="square" lIns="0" tIns="0" rIns="0" bIns="0" rtlCol="0" anchor="ctr"/>
          <a:lstStyle/>
          <a:p>
            <a:pPr indent="0" marL="0">
              <a:buNone/>
            </a:pPr>
            <a:r>
              <a:rPr lang="en-US" sz="2400" dirty="0">
                <a:solidFill>
                  <a:srgbClr val="BBF7D0"/>
                </a:solidFill>
                <a:latin typeface="Calibri" pitchFamily="34" charset="0"/>
                <a:ea typeface="Calibri" pitchFamily="34" charset="-122"/>
                <a:cs typeface="Calibri" pitchFamily="34" charset="-120"/>
              </a:rPr>
              <a:t>Farm-fresh produce, ordered online and delivered locally.</a:t>
            </a:r>
            <a:endParaRPr lang="en-US" sz="2400" dirty="0"/>
          </a:p>
        </p:txBody>
      </p:sp>
      <p:sp>
        <p:nvSpPr>
          <p:cNvPr id="6" name="Shape 4"/>
          <p:cNvSpPr/>
          <p:nvPr/>
        </p:nvSpPr>
        <p:spPr>
          <a:xfrm>
            <a:off x="640080" y="3200400"/>
            <a:ext cx="1097280" cy="54864"/>
          </a:xfrm>
          <a:prstGeom prst="rect">
            <a:avLst/>
          </a:prstGeom>
          <a:solidFill>
            <a:srgbClr val="4ADE80"/>
          </a:solidFill>
          <a:ln w="12700">
            <a:solidFill>
              <a:srgbClr val="4ADE80"/>
            </a:solidFill>
            <a:prstDash val="solid"/>
          </a:ln>
        </p:spPr>
      </p:sp>
      <p:sp>
        <p:nvSpPr>
          <p:cNvPr id="7" name="Text 5"/>
          <p:cNvSpPr/>
          <p:nvPr/>
        </p:nvSpPr>
        <p:spPr>
          <a:xfrm>
            <a:off x="640080" y="3383280"/>
            <a:ext cx="7315200" cy="36576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System overview for the shop owner and stakeholders</a:t>
            </a:r>
            <a:endParaRPr lang="en-US" sz="1600" dirty="0"/>
          </a:p>
        </p:txBody>
      </p:sp>
      <p:sp>
        <p:nvSpPr>
          <p:cNvPr id="8" name="Text 6"/>
          <p:cNvSpPr/>
          <p:nvPr/>
        </p:nvSpPr>
        <p:spPr>
          <a:xfrm>
            <a:off x="640080" y="3749040"/>
            <a:ext cx="7315200" cy="320040"/>
          </a:xfrm>
          <a:prstGeom prst="rect">
            <a:avLst/>
          </a:prstGeom>
          <a:noFill/>
          <a:ln/>
        </p:spPr>
        <p:txBody>
          <a:bodyPr wrap="square" lIns="0" tIns="0" rIns="0" bIns="0" rtlCol="0" anchor="ctr"/>
          <a:lstStyle/>
          <a:p>
            <a:pPr indent="0" marL="0">
              <a:buNone/>
            </a:pPr>
            <a:r>
              <a:rPr lang="en-US" sz="1300" dirty="0">
                <a:solidFill>
                  <a:srgbClr val="86EFAC"/>
                </a:solidFill>
                <a:latin typeface="Calibri" pitchFamily="34" charset="0"/>
                <a:ea typeface="Calibri" pitchFamily="34" charset="-122"/>
                <a:cs typeface="Calibri" pitchFamily="34" charset="-120"/>
              </a:rPr>
              <a:t>Based on the code and the project audits, October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5803D"/>
          </a:solidFill>
          <a:ln w="12700">
            <a:solidFill>
              <a:srgbClr val="15803D"/>
            </a:solidFill>
            <a:prstDash val="solid"/>
          </a:ln>
        </p:spPr>
      </p:sp>
      <p:sp>
        <p:nvSpPr>
          <p:cNvPr id="3" name="Text 1"/>
          <p:cNvSpPr/>
          <p:nvPr/>
        </p:nvSpPr>
        <p:spPr>
          <a:xfrm>
            <a:off x="502920" y="274320"/>
            <a:ext cx="8138160" cy="640080"/>
          </a:xfrm>
          <a:prstGeom prst="rect">
            <a:avLst/>
          </a:prstGeom>
          <a:noFill/>
          <a:ln/>
        </p:spPr>
        <p:txBody>
          <a:bodyPr wrap="square" lIns="0" tIns="0" rIns="0" bIns="0" rtlCol="0" anchor="ctr"/>
          <a:lstStyle/>
          <a:p>
            <a:pPr indent="0" marL="0">
              <a:buNone/>
            </a:pPr>
            <a:r>
              <a:rPr lang="en-US" sz="3200" b="1" dirty="0">
                <a:solidFill>
                  <a:srgbClr val="052312"/>
                </a:solidFill>
                <a:latin typeface="Calibri" pitchFamily="34" charset="0"/>
                <a:ea typeface="Calibri" pitchFamily="34" charset="-122"/>
                <a:cs typeface="Calibri" pitchFamily="34" charset="-120"/>
              </a:rPr>
              <a:t>Why CY-Market exists</a:t>
            </a:r>
            <a:endParaRPr lang="en-US" sz="3200" dirty="0"/>
          </a:p>
        </p:txBody>
      </p:sp>
      <p:sp>
        <p:nvSpPr>
          <p:cNvPr id="4" name="Text 2"/>
          <p:cNvSpPr/>
          <p:nvPr/>
        </p:nvSpPr>
        <p:spPr>
          <a:xfrm>
            <a:off x="502920" y="896112"/>
            <a:ext cx="8138160" cy="365760"/>
          </a:xfrm>
          <a:prstGeom prst="rect">
            <a:avLst/>
          </a:prstGeom>
          <a:noFill/>
          <a:ln/>
        </p:spPr>
        <p:txBody>
          <a:bodyPr wrap="square" lIns="0" tIns="0" rIns="0" bIns="0" rtlCol="0" anchor="ctr"/>
          <a:lstStyle/>
          <a:p>
            <a:pPr indent="0" marL="0">
              <a:buNone/>
            </a:pPr>
            <a:r>
              <a:rPr lang="en-US" sz="1600" dirty="0">
                <a:solidFill>
                  <a:srgbClr val="4B5563"/>
                </a:solidFill>
                <a:latin typeface="Calibri" pitchFamily="34" charset="0"/>
                <a:ea typeface="Calibri" pitchFamily="34" charset="-122"/>
                <a:cs typeface="Calibri" pitchFamily="34" charset="-120"/>
              </a:rPr>
              <a:t>A single-seller, farm-direct online shop for one pilot area</a:t>
            </a:r>
            <a:endParaRPr lang="en-US" sz="1600" dirty="0"/>
          </a:p>
        </p:txBody>
      </p:sp>
      <p:sp>
        <p:nvSpPr>
          <p:cNvPr id="5" name="Text 3"/>
          <p:cNvSpPr/>
          <p:nvPr/>
        </p:nvSpPr>
        <p:spPr>
          <a:xfrm>
            <a:off x="502920" y="4800600"/>
            <a:ext cx="8138160" cy="22860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CY-Market  |  System overview  |  2</a:t>
            </a:r>
            <a:endParaRPr lang="en-US" sz="1000" dirty="0"/>
          </a:p>
        </p:txBody>
      </p:sp>
      <p:sp>
        <p:nvSpPr>
          <p:cNvPr id="6" name="Shape 4"/>
          <p:cNvSpPr/>
          <p:nvPr/>
        </p:nvSpPr>
        <p:spPr>
          <a:xfrm>
            <a:off x="502920" y="1417320"/>
            <a:ext cx="2606040" cy="1737360"/>
          </a:xfrm>
          <a:prstGeom prst="roundRect">
            <a:avLst>
              <a:gd name="adj" fmla="val 4211"/>
            </a:avLst>
          </a:prstGeom>
          <a:solidFill>
            <a:srgbClr val="F0FDF4"/>
          </a:solidFill>
          <a:ln w="12700">
            <a:solidFill>
              <a:srgbClr val="DCFCE7"/>
            </a:solidFill>
            <a:prstDash val="solid"/>
          </a:ln>
        </p:spPr>
      </p:sp>
      <p:sp>
        <p:nvSpPr>
          <p:cNvPr id="7" name="Shape 5"/>
          <p:cNvSpPr/>
          <p:nvPr/>
        </p:nvSpPr>
        <p:spPr>
          <a:xfrm>
            <a:off x="502920" y="1527048"/>
            <a:ext cx="64008" cy="1517904"/>
          </a:xfrm>
          <a:prstGeom prst="rect">
            <a:avLst/>
          </a:prstGeom>
          <a:solidFill>
            <a:srgbClr val="15803D"/>
          </a:solidFill>
          <a:ln w="12700">
            <a:solidFill>
              <a:srgbClr val="15803D"/>
            </a:solidFill>
            <a:prstDash val="solid"/>
          </a:ln>
        </p:spPr>
      </p:sp>
      <p:sp>
        <p:nvSpPr>
          <p:cNvPr id="8" name="Text 6"/>
          <p:cNvSpPr/>
          <p:nvPr/>
        </p:nvSpPr>
        <p:spPr>
          <a:xfrm>
            <a:off x="685800" y="1490472"/>
            <a:ext cx="2331720" cy="365760"/>
          </a:xfrm>
          <a:prstGeom prst="rect">
            <a:avLst/>
          </a:prstGeom>
          <a:noFill/>
          <a:ln/>
        </p:spPr>
        <p:txBody>
          <a:bodyPr wrap="square" lIns="0" tIns="0" rIns="0" bIns="0" rtlCol="0" anchor="ctr"/>
          <a:lstStyle/>
          <a:p>
            <a:pPr indent="0" marL="0">
              <a:buNone/>
            </a:pPr>
            <a:r>
              <a:rPr lang="en-US" sz="1700" b="1" dirty="0">
                <a:solidFill>
                  <a:srgbClr val="14532D"/>
                </a:solidFill>
                <a:latin typeface="Calibri" pitchFamily="34" charset="0"/>
                <a:ea typeface="Calibri" pitchFamily="34" charset="-122"/>
                <a:cs typeface="Calibri" pitchFamily="34" charset="-120"/>
              </a:rPr>
              <a:t>Single seller</a:t>
            </a:r>
            <a:endParaRPr lang="en-US" sz="1700" dirty="0"/>
          </a:p>
        </p:txBody>
      </p:sp>
      <p:sp>
        <p:nvSpPr>
          <p:cNvPr id="9" name="Text 7"/>
          <p:cNvSpPr/>
          <p:nvPr/>
        </p:nvSpPr>
        <p:spPr>
          <a:xfrm>
            <a:off x="685800" y="1874520"/>
            <a:ext cx="2331720" cy="1207008"/>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One business sells every product. No marketplace, no third-party vendors.</a:t>
            </a:r>
            <a:endParaRPr lang="en-US" sz="1400" dirty="0"/>
          </a:p>
        </p:txBody>
      </p:sp>
      <p:sp>
        <p:nvSpPr>
          <p:cNvPr id="10" name="Shape 8"/>
          <p:cNvSpPr/>
          <p:nvPr/>
        </p:nvSpPr>
        <p:spPr>
          <a:xfrm>
            <a:off x="3246120" y="1417320"/>
            <a:ext cx="2606040" cy="1737360"/>
          </a:xfrm>
          <a:prstGeom prst="roundRect">
            <a:avLst>
              <a:gd name="adj" fmla="val 4211"/>
            </a:avLst>
          </a:prstGeom>
          <a:solidFill>
            <a:srgbClr val="F0FDF4"/>
          </a:solidFill>
          <a:ln w="12700">
            <a:solidFill>
              <a:srgbClr val="DCFCE7"/>
            </a:solidFill>
            <a:prstDash val="solid"/>
          </a:ln>
        </p:spPr>
      </p:sp>
      <p:sp>
        <p:nvSpPr>
          <p:cNvPr id="11" name="Shape 9"/>
          <p:cNvSpPr/>
          <p:nvPr/>
        </p:nvSpPr>
        <p:spPr>
          <a:xfrm>
            <a:off x="3246120" y="1527048"/>
            <a:ext cx="64008" cy="1517904"/>
          </a:xfrm>
          <a:prstGeom prst="rect">
            <a:avLst/>
          </a:prstGeom>
          <a:solidFill>
            <a:srgbClr val="15803D"/>
          </a:solidFill>
          <a:ln w="12700">
            <a:solidFill>
              <a:srgbClr val="15803D"/>
            </a:solidFill>
            <a:prstDash val="solid"/>
          </a:ln>
        </p:spPr>
      </p:sp>
      <p:sp>
        <p:nvSpPr>
          <p:cNvPr id="12" name="Text 10"/>
          <p:cNvSpPr/>
          <p:nvPr/>
        </p:nvSpPr>
        <p:spPr>
          <a:xfrm>
            <a:off x="3429000" y="1490472"/>
            <a:ext cx="2331720" cy="365760"/>
          </a:xfrm>
          <a:prstGeom prst="rect">
            <a:avLst/>
          </a:prstGeom>
          <a:noFill/>
          <a:ln/>
        </p:spPr>
        <p:txBody>
          <a:bodyPr wrap="square" lIns="0" tIns="0" rIns="0" bIns="0" rtlCol="0" anchor="ctr"/>
          <a:lstStyle/>
          <a:p>
            <a:pPr indent="0" marL="0">
              <a:buNone/>
            </a:pPr>
            <a:r>
              <a:rPr lang="en-US" sz="1700" b="1" dirty="0">
                <a:solidFill>
                  <a:srgbClr val="14532D"/>
                </a:solidFill>
                <a:latin typeface="Calibri" pitchFamily="34" charset="0"/>
                <a:ea typeface="Calibri" pitchFamily="34" charset="-122"/>
                <a:cs typeface="Calibri" pitchFamily="34" charset="-120"/>
              </a:rPr>
              <a:t>Farm direct</a:t>
            </a:r>
            <a:endParaRPr lang="en-US" sz="1700" dirty="0"/>
          </a:p>
        </p:txBody>
      </p:sp>
      <p:sp>
        <p:nvSpPr>
          <p:cNvPr id="13" name="Text 11"/>
          <p:cNvSpPr/>
          <p:nvPr/>
        </p:nvSpPr>
        <p:spPr>
          <a:xfrm>
            <a:off x="3429000" y="1874520"/>
            <a:ext cx="2331720" cy="1207008"/>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Produce comes from our own farms, with no middlemen. This is the promise on the storefront.</a:t>
            </a:r>
            <a:endParaRPr lang="en-US" sz="1400" dirty="0"/>
          </a:p>
        </p:txBody>
      </p:sp>
      <p:sp>
        <p:nvSpPr>
          <p:cNvPr id="14" name="Shape 12"/>
          <p:cNvSpPr/>
          <p:nvPr/>
        </p:nvSpPr>
        <p:spPr>
          <a:xfrm>
            <a:off x="5989320" y="1417320"/>
            <a:ext cx="2651760" cy="1737360"/>
          </a:xfrm>
          <a:prstGeom prst="roundRect">
            <a:avLst>
              <a:gd name="adj" fmla="val 4211"/>
            </a:avLst>
          </a:prstGeom>
          <a:solidFill>
            <a:srgbClr val="F0FDF4"/>
          </a:solidFill>
          <a:ln w="12700">
            <a:solidFill>
              <a:srgbClr val="DCFCE7"/>
            </a:solidFill>
            <a:prstDash val="solid"/>
          </a:ln>
        </p:spPr>
      </p:sp>
      <p:sp>
        <p:nvSpPr>
          <p:cNvPr id="15" name="Shape 13"/>
          <p:cNvSpPr/>
          <p:nvPr/>
        </p:nvSpPr>
        <p:spPr>
          <a:xfrm>
            <a:off x="5989320" y="1527048"/>
            <a:ext cx="64008" cy="1517904"/>
          </a:xfrm>
          <a:prstGeom prst="rect">
            <a:avLst/>
          </a:prstGeom>
          <a:solidFill>
            <a:srgbClr val="15803D"/>
          </a:solidFill>
          <a:ln w="12700">
            <a:solidFill>
              <a:srgbClr val="15803D"/>
            </a:solidFill>
            <a:prstDash val="solid"/>
          </a:ln>
        </p:spPr>
      </p:sp>
      <p:sp>
        <p:nvSpPr>
          <p:cNvPr id="16" name="Text 14"/>
          <p:cNvSpPr/>
          <p:nvPr/>
        </p:nvSpPr>
        <p:spPr>
          <a:xfrm>
            <a:off x="6172200" y="1490472"/>
            <a:ext cx="2377440" cy="365760"/>
          </a:xfrm>
          <a:prstGeom prst="rect">
            <a:avLst/>
          </a:prstGeom>
          <a:noFill/>
          <a:ln/>
        </p:spPr>
        <p:txBody>
          <a:bodyPr wrap="square" lIns="0" tIns="0" rIns="0" bIns="0" rtlCol="0" anchor="ctr"/>
          <a:lstStyle/>
          <a:p>
            <a:pPr indent="0" marL="0">
              <a:buNone/>
            </a:pPr>
            <a:r>
              <a:rPr lang="en-US" sz="1700" b="1" dirty="0">
                <a:solidFill>
                  <a:srgbClr val="14532D"/>
                </a:solidFill>
                <a:latin typeface="Calibri" pitchFamily="34" charset="0"/>
                <a:ea typeface="Calibri" pitchFamily="34" charset="-122"/>
                <a:cs typeface="Calibri" pitchFamily="34" charset="-120"/>
              </a:rPr>
              <a:t>Pilot zone</a:t>
            </a:r>
            <a:endParaRPr lang="en-US" sz="1700" dirty="0"/>
          </a:p>
        </p:txBody>
      </p:sp>
      <p:sp>
        <p:nvSpPr>
          <p:cNvPr id="17" name="Text 15"/>
          <p:cNvSpPr/>
          <p:nvPr/>
        </p:nvSpPr>
        <p:spPr>
          <a:xfrm>
            <a:off x="6172200" y="1874520"/>
            <a:ext cx="2377440" cy="1207008"/>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Delivery starts in Tarkwa and surrounding communities, in Ghana, priced in GHS.</a:t>
            </a:r>
            <a:endParaRPr lang="en-US" sz="1400" dirty="0"/>
          </a:p>
        </p:txBody>
      </p:sp>
      <p:sp>
        <p:nvSpPr>
          <p:cNvPr id="18" name="Text 16"/>
          <p:cNvSpPr/>
          <p:nvPr/>
        </p:nvSpPr>
        <p:spPr>
          <a:xfrm>
            <a:off x="502920" y="3337560"/>
            <a:ext cx="8138160" cy="320040"/>
          </a:xfrm>
          <a:prstGeom prst="rect">
            <a:avLst/>
          </a:prstGeom>
          <a:noFill/>
          <a:ln/>
        </p:spPr>
        <p:txBody>
          <a:bodyPr wrap="square" lIns="0" tIns="0" rIns="0" bIns="0" rtlCol="0" anchor="ctr"/>
          <a:lstStyle/>
          <a:p>
            <a:pPr indent="0" marL="0">
              <a:buNone/>
            </a:pPr>
            <a:r>
              <a:rPr lang="en-US" sz="1800" b="1" dirty="0">
                <a:solidFill>
                  <a:srgbClr val="052312"/>
                </a:solidFill>
                <a:latin typeface="Calibri" pitchFamily="34" charset="0"/>
                <a:ea typeface="Calibri" pitchFamily="34" charset="-122"/>
                <a:cs typeface="Calibri" pitchFamily="34" charset="-120"/>
              </a:rPr>
              <a:t>Goals the system serves</a:t>
            </a:r>
            <a:endParaRPr lang="en-US" sz="1800" dirty="0"/>
          </a:p>
        </p:txBody>
      </p:sp>
      <p:sp>
        <p:nvSpPr>
          <p:cNvPr id="19" name="Text 17"/>
          <p:cNvSpPr/>
          <p:nvPr/>
        </p:nvSpPr>
        <p:spPr>
          <a:xfrm>
            <a:off x="502920" y="3675888"/>
            <a:ext cx="8138160" cy="1005840"/>
          </a:xfrm>
          <a:prstGeom prst="rect">
            <a:avLst/>
          </a:prstGeom>
          <a:noFill/>
          <a:ln/>
        </p:spPr>
        <p:txBody>
          <a:bodyPr wrap="square" lIns="0" tIns="0" rIns="0" bIns="0" rtlCol="0" anchor="ctr"/>
          <a:lstStyle/>
          <a:p>
            <a:pPr marL="177800" indent="-177800">
              <a:spcAft>
                <a:spcPts val="300"/>
              </a:spcAft>
              <a:buSzPct val="100000"/>
              <a:buChar char="•"/>
            </a:pPr>
            <a:r>
              <a:rPr lang="en-US" sz="1600" dirty="0">
                <a:solidFill>
                  <a:srgbClr val="1F2937"/>
                </a:solidFill>
                <a:latin typeface="Calibri" pitchFamily="34" charset="0"/>
                <a:ea typeface="Calibri" pitchFamily="34" charset="-122"/>
                <a:cs typeface="Calibri" pitchFamily="34" charset="-120"/>
              </a:rPr>
              <a:t>Let customers order from a phone, without needing an account</a:t>
            </a:r>
            <a:endParaRPr lang="en-US" sz="1600" dirty="0"/>
          </a:p>
          <a:p>
            <a:pPr marL="177800" indent="-177800">
              <a:spcAft>
                <a:spcPts val="300"/>
              </a:spcAft>
              <a:buSzPct val="100000"/>
              <a:buChar char="•"/>
            </a:pPr>
            <a:r>
              <a:rPr lang="en-US" sz="1600" dirty="0">
                <a:solidFill>
                  <a:srgbClr val="1F2937"/>
                </a:solidFill>
                <a:latin typeface="Calibri" pitchFamily="34" charset="0"/>
                <a:ea typeface="Calibri" pitchFamily="34" charset="-122"/>
                <a:cs typeface="Calibri" pitchFamily="34" charset="-120"/>
              </a:rPr>
              <a:t>Get paid by bank or mobile-money transfer, confirmed by staff</a:t>
            </a:r>
            <a:endParaRPr lang="en-US" sz="1600" dirty="0"/>
          </a:p>
          <a:p>
            <a:pPr marL="177800" indent="-177800">
              <a:spcAft>
                <a:spcPts val="300"/>
              </a:spcAft>
              <a:buSzPct val="100000"/>
              <a:buChar char="•"/>
            </a:pPr>
            <a:r>
              <a:rPr lang="en-US" sz="1600" dirty="0">
                <a:solidFill>
                  <a:srgbClr val="1F2937"/>
                </a:solidFill>
                <a:latin typeface="Calibri" pitchFamily="34" charset="0"/>
                <a:ea typeface="Calibri" pitchFamily="34" charset="-122"/>
                <a:cs typeface="Calibri" pitchFamily="34" charset="-120"/>
              </a:rPr>
              <a:t>Keep stock honest and orders traceable end to end</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5803D"/>
          </a:solidFill>
          <a:ln w="12700">
            <a:solidFill>
              <a:srgbClr val="15803D"/>
            </a:solidFill>
            <a:prstDash val="solid"/>
          </a:ln>
        </p:spPr>
      </p:sp>
      <p:sp>
        <p:nvSpPr>
          <p:cNvPr id="3" name="Text 1"/>
          <p:cNvSpPr/>
          <p:nvPr/>
        </p:nvSpPr>
        <p:spPr>
          <a:xfrm>
            <a:off x="502920" y="274320"/>
            <a:ext cx="8138160" cy="640080"/>
          </a:xfrm>
          <a:prstGeom prst="rect">
            <a:avLst/>
          </a:prstGeom>
          <a:noFill/>
          <a:ln/>
        </p:spPr>
        <p:txBody>
          <a:bodyPr wrap="square" lIns="0" tIns="0" rIns="0" bIns="0" rtlCol="0" anchor="ctr"/>
          <a:lstStyle/>
          <a:p>
            <a:pPr indent="0" marL="0">
              <a:buNone/>
            </a:pPr>
            <a:r>
              <a:rPr lang="en-US" sz="3200" b="1" dirty="0">
                <a:solidFill>
                  <a:srgbClr val="052312"/>
                </a:solidFill>
                <a:latin typeface="Calibri" pitchFamily="34" charset="0"/>
                <a:ea typeface="Calibri" pitchFamily="34" charset="-122"/>
                <a:cs typeface="Calibri" pitchFamily="34" charset="-120"/>
              </a:rPr>
              <a:t>What customers can do</a:t>
            </a:r>
            <a:endParaRPr lang="en-US" sz="3200" dirty="0"/>
          </a:p>
        </p:txBody>
      </p:sp>
      <p:sp>
        <p:nvSpPr>
          <p:cNvPr id="4" name="Text 2"/>
          <p:cNvSpPr/>
          <p:nvPr/>
        </p:nvSpPr>
        <p:spPr>
          <a:xfrm>
            <a:off x="502920" y="896112"/>
            <a:ext cx="8138160" cy="365760"/>
          </a:xfrm>
          <a:prstGeom prst="rect">
            <a:avLst/>
          </a:prstGeom>
          <a:noFill/>
          <a:ln/>
        </p:spPr>
        <p:txBody>
          <a:bodyPr wrap="square" lIns="0" tIns="0" rIns="0" bIns="0" rtlCol="0" anchor="ctr"/>
          <a:lstStyle/>
          <a:p>
            <a:pPr indent="0" marL="0">
              <a:buNone/>
            </a:pPr>
            <a:r>
              <a:rPr lang="en-US" sz="1600" dirty="0">
                <a:solidFill>
                  <a:srgbClr val="4B5563"/>
                </a:solidFill>
                <a:latin typeface="Calibri" pitchFamily="34" charset="0"/>
                <a:ea typeface="Calibri" pitchFamily="34" charset="-122"/>
                <a:cs typeface="Calibri" pitchFamily="34" charset="-120"/>
              </a:rPr>
              <a:t>The storefront journey, on a phone or a computer</a:t>
            </a:r>
            <a:endParaRPr lang="en-US" sz="1600" dirty="0"/>
          </a:p>
        </p:txBody>
      </p:sp>
      <p:sp>
        <p:nvSpPr>
          <p:cNvPr id="5" name="Text 3"/>
          <p:cNvSpPr/>
          <p:nvPr/>
        </p:nvSpPr>
        <p:spPr>
          <a:xfrm>
            <a:off x="502920" y="4800600"/>
            <a:ext cx="8138160" cy="22860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CY-Market  |  System overview  |  3</a:t>
            </a:r>
            <a:endParaRPr lang="en-US" sz="1000" dirty="0"/>
          </a:p>
        </p:txBody>
      </p:sp>
      <p:sp>
        <p:nvSpPr>
          <p:cNvPr id="6" name="Shape 4"/>
          <p:cNvSpPr/>
          <p:nvPr/>
        </p:nvSpPr>
        <p:spPr>
          <a:xfrm>
            <a:off x="502920" y="1417320"/>
            <a:ext cx="1591056" cy="777240"/>
          </a:xfrm>
          <a:prstGeom prst="homePlate">
            <a:avLst/>
          </a:prstGeom>
          <a:solidFill>
            <a:srgbClr val="15803D"/>
          </a:solidFill>
          <a:ln w="12700">
            <a:solidFill>
              <a:srgbClr val="FFFFFF"/>
            </a:solidFill>
            <a:prstDash val="solid"/>
          </a:ln>
        </p:spPr>
      </p:sp>
      <p:sp>
        <p:nvSpPr>
          <p:cNvPr id="7" name="Text 5"/>
          <p:cNvSpPr/>
          <p:nvPr/>
        </p:nvSpPr>
        <p:spPr>
          <a:xfrm>
            <a:off x="548640" y="1417320"/>
            <a:ext cx="1362456" cy="7772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Browse</a:t>
            </a:r>
            <a:endParaRPr lang="en-US" sz="1400" dirty="0"/>
          </a:p>
        </p:txBody>
      </p:sp>
      <p:sp>
        <p:nvSpPr>
          <p:cNvPr id="8" name="Shape 6"/>
          <p:cNvSpPr/>
          <p:nvPr/>
        </p:nvSpPr>
        <p:spPr>
          <a:xfrm>
            <a:off x="2139696" y="1417320"/>
            <a:ext cx="1591056" cy="777240"/>
          </a:xfrm>
          <a:prstGeom prst="homePlate">
            <a:avLst/>
          </a:prstGeom>
          <a:solidFill>
            <a:srgbClr val="16A34A"/>
          </a:solidFill>
          <a:ln w="12700">
            <a:solidFill>
              <a:srgbClr val="FFFFFF"/>
            </a:solidFill>
            <a:prstDash val="solid"/>
          </a:ln>
        </p:spPr>
      </p:sp>
      <p:sp>
        <p:nvSpPr>
          <p:cNvPr id="9" name="Text 7"/>
          <p:cNvSpPr/>
          <p:nvPr/>
        </p:nvSpPr>
        <p:spPr>
          <a:xfrm>
            <a:off x="2185416" y="1417320"/>
            <a:ext cx="1362456" cy="7772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Cart</a:t>
            </a:r>
            <a:endParaRPr lang="en-US" sz="1400" dirty="0"/>
          </a:p>
        </p:txBody>
      </p:sp>
      <p:sp>
        <p:nvSpPr>
          <p:cNvPr id="10" name="Shape 8"/>
          <p:cNvSpPr/>
          <p:nvPr/>
        </p:nvSpPr>
        <p:spPr>
          <a:xfrm>
            <a:off x="3776472" y="1417320"/>
            <a:ext cx="1591056" cy="777240"/>
          </a:xfrm>
          <a:prstGeom prst="homePlate">
            <a:avLst/>
          </a:prstGeom>
          <a:solidFill>
            <a:srgbClr val="15803D"/>
          </a:solidFill>
          <a:ln w="12700">
            <a:solidFill>
              <a:srgbClr val="FFFFFF"/>
            </a:solidFill>
            <a:prstDash val="solid"/>
          </a:ln>
        </p:spPr>
      </p:sp>
      <p:sp>
        <p:nvSpPr>
          <p:cNvPr id="11" name="Text 9"/>
          <p:cNvSpPr/>
          <p:nvPr/>
        </p:nvSpPr>
        <p:spPr>
          <a:xfrm>
            <a:off x="3822192" y="1417320"/>
            <a:ext cx="1362456" cy="7772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Checkout</a:t>
            </a:r>
            <a:endParaRPr lang="en-US" sz="1400" dirty="0"/>
          </a:p>
        </p:txBody>
      </p:sp>
      <p:sp>
        <p:nvSpPr>
          <p:cNvPr id="12" name="Shape 10"/>
          <p:cNvSpPr/>
          <p:nvPr/>
        </p:nvSpPr>
        <p:spPr>
          <a:xfrm>
            <a:off x="5413248" y="1417320"/>
            <a:ext cx="1591056" cy="777240"/>
          </a:xfrm>
          <a:prstGeom prst="homePlate">
            <a:avLst/>
          </a:prstGeom>
          <a:solidFill>
            <a:srgbClr val="16A34A"/>
          </a:solidFill>
          <a:ln w="12700">
            <a:solidFill>
              <a:srgbClr val="FFFFFF"/>
            </a:solidFill>
            <a:prstDash val="solid"/>
          </a:ln>
        </p:spPr>
      </p:sp>
      <p:sp>
        <p:nvSpPr>
          <p:cNvPr id="13" name="Text 11"/>
          <p:cNvSpPr/>
          <p:nvPr/>
        </p:nvSpPr>
        <p:spPr>
          <a:xfrm>
            <a:off x="5458968" y="1417320"/>
            <a:ext cx="1362456" cy="7772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Pay by transfer</a:t>
            </a:r>
            <a:endParaRPr lang="en-US" sz="1400" dirty="0"/>
          </a:p>
        </p:txBody>
      </p:sp>
      <p:sp>
        <p:nvSpPr>
          <p:cNvPr id="14" name="Shape 12"/>
          <p:cNvSpPr/>
          <p:nvPr/>
        </p:nvSpPr>
        <p:spPr>
          <a:xfrm>
            <a:off x="7050024" y="1417320"/>
            <a:ext cx="1591056" cy="777240"/>
          </a:xfrm>
          <a:prstGeom prst="homePlate">
            <a:avLst/>
          </a:prstGeom>
          <a:solidFill>
            <a:srgbClr val="15803D"/>
          </a:solidFill>
          <a:ln w="12700">
            <a:solidFill>
              <a:srgbClr val="FFFFFF"/>
            </a:solidFill>
            <a:prstDash val="solid"/>
          </a:ln>
        </p:spPr>
      </p:sp>
      <p:sp>
        <p:nvSpPr>
          <p:cNvPr id="15" name="Text 13"/>
          <p:cNvSpPr/>
          <p:nvPr/>
        </p:nvSpPr>
        <p:spPr>
          <a:xfrm>
            <a:off x="7095744" y="1417320"/>
            <a:ext cx="1362456" cy="7772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Track order</a:t>
            </a:r>
            <a:endParaRPr lang="en-US" sz="1400" dirty="0"/>
          </a:p>
        </p:txBody>
      </p:sp>
      <p:sp>
        <p:nvSpPr>
          <p:cNvPr id="16" name="Text 14"/>
          <p:cNvSpPr/>
          <p:nvPr/>
        </p:nvSpPr>
        <p:spPr>
          <a:xfrm>
            <a:off x="502920" y="2286000"/>
            <a:ext cx="8138160" cy="502920"/>
          </a:xfrm>
          <a:prstGeom prst="rect">
            <a:avLst/>
          </a:prstGeom>
          <a:noFill/>
          <a:ln/>
        </p:spPr>
        <p:txBody>
          <a:bodyPr wrap="square" lIns="0" tIns="0" rIns="0" bIns="0" rtlCol="0" anchor="ctr"/>
          <a:lstStyle/>
          <a:p>
            <a:pPr indent="0" marL="0">
              <a:buNone/>
            </a:pPr>
            <a:r>
              <a:rPr lang="en-US" sz="1400" dirty="0">
                <a:solidFill>
                  <a:srgbClr val="4B5563"/>
                </a:solidFill>
                <a:latin typeface="Calibri" pitchFamily="34" charset="0"/>
                <a:ea typeface="Calibri" pitchFamily="34" charset="-122"/>
                <a:cs typeface="Calibri" pitchFamily="34" charset="-120"/>
              </a:rPr>
              <a:t>Browse by category, search, add to cart, check out as a guest or with an account, upload proof of payment, follow the order.</a:t>
            </a:r>
            <a:endParaRPr lang="en-US" sz="1400" dirty="0"/>
          </a:p>
        </p:txBody>
      </p:sp>
      <p:sp>
        <p:nvSpPr>
          <p:cNvPr id="17" name="Shape 15"/>
          <p:cNvSpPr/>
          <p:nvPr/>
        </p:nvSpPr>
        <p:spPr>
          <a:xfrm>
            <a:off x="502920" y="2926080"/>
            <a:ext cx="2606040" cy="1691640"/>
          </a:xfrm>
          <a:prstGeom prst="roundRect">
            <a:avLst>
              <a:gd name="adj" fmla="val 4324"/>
            </a:avLst>
          </a:prstGeom>
          <a:solidFill>
            <a:srgbClr val="F0FDF4"/>
          </a:solidFill>
          <a:ln w="12700">
            <a:solidFill>
              <a:srgbClr val="DCFCE7"/>
            </a:solidFill>
            <a:prstDash val="solid"/>
          </a:ln>
        </p:spPr>
      </p:sp>
      <p:sp>
        <p:nvSpPr>
          <p:cNvPr id="18" name="Shape 16"/>
          <p:cNvSpPr/>
          <p:nvPr/>
        </p:nvSpPr>
        <p:spPr>
          <a:xfrm>
            <a:off x="502920" y="3035808"/>
            <a:ext cx="64008" cy="1472184"/>
          </a:xfrm>
          <a:prstGeom prst="rect">
            <a:avLst/>
          </a:prstGeom>
          <a:solidFill>
            <a:srgbClr val="15803D"/>
          </a:solidFill>
          <a:ln w="12700">
            <a:solidFill>
              <a:srgbClr val="15803D"/>
            </a:solidFill>
            <a:prstDash val="solid"/>
          </a:ln>
        </p:spPr>
      </p:sp>
      <p:sp>
        <p:nvSpPr>
          <p:cNvPr id="19" name="Text 17"/>
          <p:cNvSpPr/>
          <p:nvPr/>
        </p:nvSpPr>
        <p:spPr>
          <a:xfrm>
            <a:off x="685800" y="2999232"/>
            <a:ext cx="2331720" cy="365760"/>
          </a:xfrm>
          <a:prstGeom prst="rect">
            <a:avLst/>
          </a:prstGeom>
          <a:noFill/>
          <a:ln/>
        </p:spPr>
        <p:txBody>
          <a:bodyPr wrap="square" lIns="0" tIns="0" rIns="0" bIns="0" rtlCol="0" anchor="ctr"/>
          <a:lstStyle/>
          <a:p>
            <a:pPr indent="0" marL="0">
              <a:buNone/>
            </a:pPr>
            <a:r>
              <a:rPr lang="en-US" sz="1700" b="1" dirty="0">
                <a:solidFill>
                  <a:srgbClr val="14532D"/>
                </a:solidFill>
                <a:latin typeface="Calibri" pitchFamily="34" charset="0"/>
                <a:ea typeface="Calibri" pitchFamily="34" charset="-122"/>
                <a:cs typeface="Calibri" pitchFamily="34" charset="-120"/>
              </a:rPr>
              <a:t>Stay informed</a:t>
            </a:r>
            <a:endParaRPr lang="en-US" sz="1700" dirty="0"/>
          </a:p>
        </p:txBody>
      </p:sp>
      <p:sp>
        <p:nvSpPr>
          <p:cNvPr id="20" name="Text 18"/>
          <p:cNvSpPr/>
          <p:nvPr/>
        </p:nvSpPr>
        <p:spPr>
          <a:xfrm>
            <a:off x="685800" y="3383280"/>
            <a:ext cx="2331720" cy="1161288"/>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SMS, email and in-app notifications on order events.</a:t>
            </a:r>
            <a:endParaRPr lang="en-US" sz="1400" dirty="0"/>
          </a:p>
        </p:txBody>
      </p:sp>
      <p:sp>
        <p:nvSpPr>
          <p:cNvPr id="21" name="Shape 19"/>
          <p:cNvSpPr/>
          <p:nvPr/>
        </p:nvSpPr>
        <p:spPr>
          <a:xfrm>
            <a:off x="3246120" y="2926080"/>
            <a:ext cx="2606040" cy="1691640"/>
          </a:xfrm>
          <a:prstGeom prst="roundRect">
            <a:avLst>
              <a:gd name="adj" fmla="val 4324"/>
            </a:avLst>
          </a:prstGeom>
          <a:solidFill>
            <a:srgbClr val="F0FDF4"/>
          </a:solidFill>
          <a:ln w="12700">
            <a:solidFill>
              <a:srgbClr val="DCFCE7"/>
            </a:solidFill>
            <a:prstDash val="solid"/>
          </a:ln>
        </p:spPr>
      </p:sp>
      <p:sp>
        <p:nvSpPr>
          <p:cNvPr id="22" name="Shape 20"/>
          <p:cNvSpPr/>
          <p:nvPr/>
        </p:nvSpPr>
        <p:spPr>
          <a:xfrm>
            <a:off x="3246120" y="3035808"/>
            <a:ext cx="64008" cy="1472184"/>
          </a:xfrm>
          <a:prstGeom prst="rect">
            <a:avLst/>
          </a:prstGeom>
          <a:solidFill>
            <a:srgbClr val="15803D"/>
          </a:solidFill>
          <a:ln w="12700">
            <a:solidFill>
              <a:srgbClr val="15803D"/>
            </a:solidFill>
            <a:prstDash val="solid"/>
          </a:ln>
        </p:spPr>
      </p:sp>
      <p:sp>
        <p:nvSpPr>
          <p:cNvPr id="23" name="Text 21"/>
          <p:cNvSpPr/>
          <p:nvPr/>
        </p:nvSpPr>
        <p:spPr>
          <a:xfrm>
            <a:off x="3429000" y="2999232"/>
            <a:ext cx="2331720" cy="365760"/>
          </a:xfrm>
          <a:prstGeom prst="rect">
            <a:avLst/>
          </a:prstGeom>
          <a:noFill/>
          <a:ln/>
        </p:spPr>
        <p:txBody>
          <a:bodyPr wrap="square" lIns="0" tIns="0" rIns="0" bIns="0" rtlCol="0" anchor="ctr"/>
          <a:lstStyle/>
          <a:p>
            <a:pPr indent="0" marL="0">
              <a:buNone/>
            </a:pPr>
            <a:r>
              <a:rPr lang="en-US" sz="1700" b="1" dirty="0">
                <a:solidFill>
                  <a:srgbClr val="14532D"/>
                </a:solidFill>
                <a:latin typeface="Calibri" pitchFamily="34" charset="0"/>
                <a:ea typeface="Calibri" pitchFamily="34" charset="-122"/>
                <a:cs typeface="Calibri" pitchFamily="34" charset="-120"/>
              </a:rPr>
              <a:t>Install the app</a:t>
            </a:r>
            <a:endParaRPr lang="en-US" sz="1700" dirty="0"/>
          </a:p>
        </p:txBody>
      </p:sp>
      <p:sp>
        <p:nvSpPr>
          <p:cNvPr id="24" name="Text 22"/>
          <p:cNvSpPr/>
          <p:nvPr/>
        </p:nvSpPr>
        <p:spPr>
          <a:xfrm>
            <a:off x="3429000" y="3383280"/>
            <a:ext cx="2331720" cy="1161288"/>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Works as an installable web app (PWA) on phone and desktop, with an Install App button.</a:t>
            </a:r>
            <a:endParaRPr lang="en-US" sz="1400" dirty="0"/>
          </a:p>
        </p:txBody>
      </p:sp>
      <p:sp>
        <p:nvSpPr>
          <p:cNvPr id="25" name="Shape 23"/>
          <p:cNvSpPr/>
          <p:nvPr/>
        </p:nvSpPr>
        <p:spPr>
          <a:xfrm>
            <a:off x="5989320" y="2926080"/>
            <a:ext cx="2651760" cy="1691640"/>
          </a:xfrm>
          <a:prstGeom prst="roundRect">
            <a:avLst>
              <a:gd name="adj" fmla="val 4324"/>
            </a:avLst>
          </a:prstGeom>
          <a:solidFill>
            <a:srgbClr val="FFFBEB"/>
          </a:solidFill>
          <a:ln w="12700">
            <a:solidFill>
              <a:srgbClr val="FDE68A"/>
            </a:solidFill>
            <a:prstDash val="solid"/>
          </a:ln>
        </p:spPr>
      </p:sp>
      <p:sp>
        <p:nvSpPr>
          <p:cNvPr id="26" name="Shape 24"/>
          <p:cNvSpPr/>
          <p:nvPr/>
        </p:nvSpPr>
        <p:spPr>
          <a:xfrm>
            <a:off x="5989320" y="3035808"/>
            <a:ext cx="64008" cy="1472184"/>
          </a:xfrm>
          <a:prstGeom prst="rect">
            <a:avLst/>
          </a:prstGeom>
          <a:solidFill>
            <a:srgbClr val="B45309"/>
          </a:solidFill>
          <a:ln w="12700">
            <a:solidFill>
              <a:srgbClr val="B45309"/>
            </a:solidFill>
            <a:prstDash val="solid"/>
          </a:ln>
        </p:spPr>
      </p:sp>
      <p:sp>
        <p:nvSpPr>
          <p:cNvPr id="27" name="Text 25"/>
          <p:cNvSpPr/>
          <p:nvPr/>
        </p:nvSpPr>
        <p:spPr>
          <a:xfrm>
            <a:off x="6172200" y="2999232"/>
            <a:ext cx="2377440" cy="365760"/>
          </a:xfrm>
          <a:prstGeom prst="rect">
            <a:avLst/>
          </a:prstGeom>
          <a:noFill/>
          <a:ln/>
        </p:spPr>
        <p:txBody>
          <a:bodyPr wrap="square" lIns="0" tIns="0" rIns="0" bIns="0" rtlCol="0" anchor="ctr"/>
          <a:lstStyle/>
          <a:p>
            <a:pPr indent="0" marL="0">
              <a:buNone/>
            </a:pPr>
            <a:r>
              <a:rPr lang="en-US" sz="1700" b="1" dirty="0">
                <a:solidFill>
                  <a:srgbClr val="B45309"/>
                </a:solidFill>
                <a:latin typeface="Calibri" pitchFamily="34" charset="0"/>
                <a:ea typeface="Calibri" pitchFamily="34" charset="-122"/>
                <a:cs typeface="Calibri" pitchFamily="34" charset="-120"/>
              </a:rPr>
              <a:t>Not live yet</a:t>
            </a:r>
            <a:endParaRPr lang="en-US" sz="1700" dirty="0"/>
          </a:p>
        </p:txBody>
      </p:sp>
      <p:sp>
        <p:nvSpPr>
          <p:cNvPr id="28" name="Text 26"/>
          <p:cNvSpPr/>
          <p:nvPr/>
        </p:nvSpPr>
        <p:spPr>
          <a:xfrm>
            <a:off x="6172200" y="3383280"/>
            <a:ext cx="2377440" cy="1161288"/>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Reviews and wishlist have data tables only. Online MoMo payment is built but switched off.</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5803D"/>
          </a:solidFill>
          <a:ln w="12700">
            <a:solidFill>
              <a:srgbClr val="15803D"/>
            </a:solidFill>
            <a:prstDash val="solid"/>
          </a:ln>
        </p:spPr>
      </p:sp>
      <p:sp>
        <p:nvSpPr>
          <p:cNvPr id="3" name="Text 1"/>
          <p:cNvSpPr/>
          <p:nvPr/>
        </p:nvSpPr>
        <p:spPr>
          <a:xfrm>
            <a:off x="502920" y="274320"/>
            <a:ext cx="8138160" cy="640080"/>
          </a:xfrm>
          <a:prstGeom prst="rect">
            <a:avLst/>
          </a:prstGeom>
          <a:noFill/>
          <a:ln/>
        </p:spPr>
        <p:txBody>
          <a:bodyPr wrap="square" lIns="0" tIns="0" rIns="0" bIns="0" rtlCol="0" anchor="ctr"/>
          <a:lstStyle/>
          <a:p>
            <a:pPr indent="0" marL="0">
              <a:buNone/>
            </a:pPr>
            <a:r>
              <a:rPr lang="en-US" sz="3200" b="1" dirty="0">
                <a:solidFill>
                  <a:srgbClr val="052312"/>
                </a:solidFill>
                <a:latin typeface="Calibri" pitchFamily="34" charset="0"/>
                <a:ea typeface="Calibri" pitchFamily="34" charset="-122"/>
                <a:cs typeface="Calibri" pitchFamily="34" charset="-120"/>
              </a:rPr>
              <a:t>What staff can do</a:t>
            </a:r>
            <a:endParaRPr lang="en-US" sz="3200" dirty="0"/>
          </a:p>
        </p:txBody>
      </p:sp>
      <p:sp>
        <p:nvSpPr>
          <p:cNvPr id="4" name="Text 2"/>
          <p:cNvSpPr/>
          <p:nvPr/>
        </p:nvSpPr>
        <p:spPr>
          <a:xfrm>
            <a:off x="502920" y="896112"/>
            <a:ext cx="8138160" cy="365760"/>
          </a:xfrm>
          <a:prstGeom prst="rect">
            <a:avLst/>
          </a:prstGeom>
          <a:noFill/>
          <a:ln/>
        </p:spPr>
        <p:txBody>
          <a:bodyPr wrap="square" lIns="0" tIns="0" rIns="0" bIns="0" rtlCol="0" anchor="ctr"/>
          <a:lstStyle/>
          <a:p>
            <a:pPr indent="0" marL="0">
              <a:buNone/>
            </a:pPr>
            <a:r>
              <a:rPr lang="en-US" sz="1600" dirty="0">
                <a:solidFill>
                  <a:srgbClr val="4B5563"/>
                </a:solidFill>
                <a:latin typeface="Calibri" pitchFamily="34" charset="0"/>
                <a:ea typeface="Calibri" pitchFamily="34" charset="-122"/>
                <a:cs typeface="Calibri" pitchFamily="34" charset="-120"/>
              </a:rPr>
              <a:t>The admin panel (Filament), grouped as in its menu</a:t>
            </a:r>
            <a:endParaRPr lang="en-US" sz="1600" dirty="0"/>
          </a:p>
        </p:txBody>
      </p:sp>
      <p:sp>
        <p:nvSpPr>
          <p:cNvPr id="5" name="Text 3"/>
          <p:cNvSpPr/>
          <p:nvPr/>
        </p:nvSpPr>
        <p:spPr>
          <a:xfrm>
            <a:off x="502920" y="4800600"/>
            <a:ext cx="8138160" cy="22860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CY-Market  |  System overview  |  4</a:t>
            </a:r>
            <a:endParaRPr lang="en-US" sz="1000" dirty="0"/>
          </a:p>
        </p:txBody>
      </p:sp>
      <p:sp>
        <p:nvSpPr>
          <p:cNvPr id="6" name="Shape 4"/>
          <p:cNvSpPr/>
          <p:nvPr/>
        </p:nvSpPr>
        <p:spPr>
          <a:xfrm>
            <a:off x="502920" y="1371600"/>
            <a:ext cx="4023360" cy="1325880"/>
          </a:xfrm>
          <a:prstGeom prst="roundRect">
            <a:avLst>
              <a:gd name="adj" fmla="val 5517"/>
            </a:avLst>
          </a:prstGeom>
          <a:solidFill>
            <a:srgbClr val="F0FDF4"/>
          </a:solidFill>
          <a:ln w="12700">
            <a:solidFill>
              <a:srgbClr val="DCFCE7"/>
            </a:solidFill>
            <a:prstDash val="solid"/>
          </a:ln>
        </p:spPr>
      </p:sp>
      <p:sp>
        <p:nvSpPr>
          <p:cNvPr id="7" name="Shape 5"/>
          <p:cNvSpPr/>
          <p:nvPr/>
        </p:nvSpPr>
        <p:spPr>
          <a:xfrm>
            <a:off x="502920" y="1481328"/>
            <a:ext cx="64008" cy="1106424"/>
          </a:xfrm>
          <a:prstGeom prst="rect">
            <a:avLst/>
          </a:prstGeom>
          <a:solidFill>
            <a:srgbClr val="15803D"/>
          </a:solidFill>
          <a:ln w="12700">
            <a:solidFill>
              <a:srgbClr val="15803D"/>
            </a:solidFill>
            <a:prstDash val="solid"/>
          </a:ln>
        </p:spPr>
      </p:sp>
      <p:sp>
        <p:nvSpPr>
          <p:cNvPr id="8" name="Text 6"/>
          <p:cNvSpPr/>
          <p:nvPr/>
        </p:nvSpPr>
        <p:spPr>
          <a:xfrm>
            <a:off x="685800" y="1444752"/>
            <a:ext cx="3749040" cy="365760"/>
          </a:xfrm>
          <a:prstGeom prst="rect">
            <a:avLst/>
          </a:prstGeom>
          <a:noFill/>
          <a:ln/>
        </p:spPr>
        <p:txBody>
          <a:bodyPr wrap="square" lIns="0" tIns="0" rIns="0" bIns="0" rtlCol="0" anchor="ctr"/>
          <a:lstStyle/>
          <a:p>
            <a:pPr indent="0" marL="0">
              <a:buNone/>
            </a:pPr>
            <a:r>
              <a:rPr lang="en-US" sz="1700" b="1" dirty="0">
                <a:solidFill>
                  <a:srgbClr val="14532D"/>
                </a:solidFill>
                <a:latin typeface="Calibri" pitchFamily="34" charset="0"/>
                <a:ea typeface="Calibri" pitchFamily="34" charset="-122"/>
                <a:cs typeface="Calibri" pitchFamily="34" charset="-120"/>
              </a:rPr>
              <a:t>Sales</a:t>
            </a:r>
            <a:endParaRPr lang="en-US" sz="1700" dirty="0"/>
          </a:p>
        </p:txBody>
      </p:sp>
      <p:sp>
        <p:nvSpPr>
          <p:cNvPr id="9" name="Text 7"/>
          <p:cNvSpPr/>
          <p:nvPr/>
        </p:nvSpPr>
        <p:spPr>
          <a:xfrm>
            <a:off x="685800" y="1828800"/>
            <a:ext cx="3749040" cy="795528"/>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Orders: move through statuses</a:t>
            </a:r>
            <a:endParaRPr lang="en-US" sz="1400" dirty="0"/>
          </a:p>
          <a:p>
            <a:pPr indent="0" marL="0">
              <a:buNone/>
            </a:pPr>
            <a:r>
              <a:rPr lang="en-US" sz="1400" dirty="0">
                <a:solidFill>
                  <a:srgbClr val="1F2937"/>
                </a:solidFill>
                <a:latin typeface="Calibri" pitchFamily="34" charset="0"/>
                <a:ea typeface="Calibri" pitchFamily="34" charset="-122"/>
                <a:cs typeface="Calibri" pitchFamily="34" charset="-120"/>
              </a:rPr>
              <a:t>Payments: confirm or reject transfers</a:t>
            </a:r>
            <a:endParaRPr lang="en-US" sz="1400" dirty="0"/>
          </a:p>
        </p:txBody>
      </p:sp>
      <p:sp>
        <p:nvSpPr>
          <p:cNvPr id="10" name="Shape 8"/>
          <p:cNvSpPr/>
          <p:nvPr/>
        </p:nvSpPr>
        <p:spPr>
          <a:xfrm>
            <a:off x="4617720" y="1371600"/>
            <a:ext cx="4023360" cy="1325880"/>
          </a:xfrm>
          <a:prstGeom prst="roundRect">
            <a:avLst>
              <a:gd name="adj" fmla="val 5517"/>
            </a:avLst>
          </a:prstGeom>
          <a:solidFill>
            <a:srgbClr val="F0FDF4"/>
          </a:solidFill>
          <a:ln w="12700">
            <a:solidFill>
              <a:srgbClr val="DCFCE7"/>
            </a:solidFill>
            <a:prstDash val="solid"/>
          </a:ln>
        </p:spPr>
      </p:sp>
      <p:sp>
        <p:nvSpPr>
          <p:cNvPr id="11" name="Shape 9"/>
          <p:cNvSpPr/>
          <p:nvPr/>
        </p:nvSpPr>
        <p:spPr>
          <a:xfrm>
            <a:off x="4617720" y="1481328"/>
            <a:ext cx="64008" cy="1106424"/>
          </a:xfrm>
          <a:prstGeom prst="rect">
            <a:avLst/>
          </a:prstGeom>
          <a:solidFill>
            <a:srgbClr val="15803D"/>
          </a:solidFill>
          <a:ln w="12700">
            <a:solidFill>
              <a:srgbClr val="15803D"/>
            </a:solidFill>
            <a:prstDash val="solid"/>
          </a:ln>
        </p:spPr>
      </p:sp>
      <p:sp>
        <p:nvSpPr>
          <p:cNvPr id="12" name="Text 10"/>
          <p:cNvSpPr/>
          <p:nvPr/>
        </p:nvSpPr>
        <p:spPr>
          <a:xfrm>
            <a:off x="4800600" y="1444752"/>
            <a:ext cx="3749040" cy="365760"/>
          </a:xfrm>
          <a:prstGeom prst="rect">
            <a:avLst/>
          </a:prstGeom>
          <a:noFill/>
          <a:ln/>
        </p:spPr>
        <p:txBody>
          <a:bodyPr wrap="square" lIns="0" tIns="0" rIns="0" bIns="0" rtlCol="0" anchor="ctr"/>
          <a:lstStyle/>
          <a:p>
            <a:pPr indent="0" marL="0">
              <a:buNone/>
            </a:pPr>
            <a:r>
              <a:rPr lang="en-US" sz="1700" b="1" dirty="0">
                <a:solidFill>
                  <a:srgbClr val="14532D"/>
                </a:solidFill>
                <a:latin typeface="Calibri" pitchFamily="34" charset="0"/>
                <a:ea typeface="Calibri" pitchFamily="34" charset="-122"/>
                <a:cs typeface="Calibri" pitchFamily="34" charset="-120"/>
              </a:rPr>
              <a:t>Catalogue</a:t>
            </a:r>
            <a:endParaRPr lang="en-US" sz="1700" dirty="0"/>
          </a:p>
        </p:txBody>
      </p:sp>
      <p:sp>
        <p:nvSpPr>
          <p:cNvPr id="13" name="Text 11"/>
          <p:cNvSpPr/>
          <p:nvPr/>
        </p:nvSpPr>
        <p:spPr>
          <a:xfrm>
            <a:off x="4800600" y="1828800"/>
            <a:ext cx="3749040" cy="795528"/>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Products and stock levels</a:t>
            </a:r>
            <a:endParaRPr lang="en-US" sz="1400" dirty="0"/>
          </a:p>
          <a:p>
            <a:pPr indent="0" marL="0">
              <a:buNone/>
            </a:pPr>
            <a:r>
              <a:rPr lang="en-US" sz="1400" dirty="0">
                <a:solidFill>
                  <a:srgbClr val="1F2937"/>
                </a:solidFill>
                <a:latin typeface="Calibri" pitchFamily="34" charset="0"/>
                <a:ea typeface="Calibri" pitchFamily="34" charset="-122"/>
                <a:cs typeface="Calibri" pitchFamily="34" charset="-120"/>
              </a:rPr>
              <a:t>Categories</a:t>
            </a:r>
            <a:endParaRPr lang="en-US" sz="1400" dirty="0"/>
          </a:p>
          <a:p>
            <a:pPr indent="0" marL="0">
              <a:buNone/>
            </a:pPr>
            <a:r>
              <a:rPr lang="en-US" sz="1400" dirty="0">
                <a:solidFill>
                  <a:srgbClr val="1F2937"/>
                </a:solidFill>
                <a:latin typeface="Calibri" pitchFamily="34" charset="0"/>
                <a:ea typeface="Calibri" pitchFamily="34" charset="-122"/>
                <a:cs typeface="Calibri" pitchFamily="34" charset="-120"/>
              </a:rPr>
              <a:t>Stock Movements (audit trail)</a:t>
            </a:r>
            <a:endParaRPr lang="en-US" sz="1400" dirty="0"/>
          </a:p>
        </p:txBody>
      </p:sp>
      <p:sp>
        <p:nvSpPr>
          <p:cNvPr id="14" name="Shape 12"/>
          <p:cNvSpPr/>
          <p:nvPr/>
        </p:nvSpPr>
        <p:spPr>
          <a:xfrm>
            <a:off x="502920" y="2834640"/>
            <a:ext cx="4023360" cy="1325880"/>
          </a:xfrm>
          <a:prstGeom prst="roundRect">
            <a:avLst>
              <a:gd name="adj" fmla="val 5517"/>
            </a:avLst>
          </a:prstGeom>
          <a:solidFill>
            <a:srgbClr val="F0FDF4"/>
          </a:solidFill>
          <a:ln w="12700">
            <a:solidFill>
              <a:srgbClr val="DCFCE7"/>
            </a:solidFill>
            <a:prstDash val="solid"/>
          </a:ln>
        </p:spPr>
      </p:sp>
      <p:sp>
        <p:nvSpPr>
          <p:cNvPr id="15" name="Shape 13"/>
          <p:cNvSpPr/>
          <p:nvPr/>
        </p:nvSpPr>
        <p:spPr>
          <a:xfrm>
            <a:off x="502920" y="2944368"/>
            <a:ext cx="64008" cy="1106424"/>
          </a:xfrm>
          <a:prstGeom prst="rect">
            <a:avLst/>
          </a:prstGeom>
          <a:solidFill>
            <a:srgbClr val="15803D"/>
          </a:solidFill>
          <a:ln w="12700">
            <a:solidFill>
              <a:srgbClr val="15803D"/>
            </a:solidFill>
            <a:prstDash val="solid"/>
          </a:ln>
        </p:spPr>
      </p:sp>
      <p:sp>
        <p:nvSpPr>
          <p:cNvPr id="16" name="Text 14"/>
          <p:cNvSpPr/>
          <p:nvPr/>
        </p:nvSpPr>
        <p:spPr>
          <a:xfrm>
            <a:off x="685800" y="2907792"/>
            <a:ext cx="3749040" cy="365760"/>
          </a:xfrm>
          <a:prstGeom prst="rect">
            <a:avLst/>
          </a:prstGeom>
          <a:noFill/>
          <a:ln/>
        </p:spPr>
        <p:txBody>
          <a:bodyPr wrap="square" lIns="0" tIns="0" rIns="0" bIns="0" rtlCol="0" anchor="ctr"/>
          <a:lstStyle/>
          <a:p>
            <a:pPr indent="0" marL="0">
              <a:buNone/>
            </a:pPr>
            <a:r>
              <a:rPr lang="en-US" sz="1700" b="1" dirty="0">
                <a:solidFill>
                  <a:srgbClr val="14532D"/>
                </a:solidFill>
                <a:latin typeface="Calibri" pitchFamily="34" charset="0"/>
                <a:ea typeface="Calibri" pitchFamily="34" charset="-122"/>
                <a:cs typeface="Calibri" pitchFamily="34" charset="-120"/>
              </a:rPr>
              <a:t>Marketing</a:t>
            </a:r>
            <a:endParaRPr lang="en-US" sz="1700" dirty="0"/>
          </a:p>
        </p:txBody>
      </p:sp>
      <p:sp>
        <p:nvSpPr>
          <p:cNvPr id="17" name="Text 15"/>
          <p:cNvSpPr/>
          <p:nvPr/>
        </p:nvSpPr>
        <p:spPr>
          <a:xfrm>
            <a:off x="685800" y="3291840"/>
            <a:ext cx="3749040" cy="795528"/>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Banners: the homepage hero slides</a:t>
            </a:r>
            <a:endParaRPr lang="en-US" sz="1400" dirty="0"/>
          </a:p>
        </p:txBody>
      </p:sp>
      <p:sp>
        <p:nvSpPr>
          <p:cNvPr id="18" name="Shape 16"/>
          <p:cNvSpPr/>
          <p:nvPr/>
        </p:nvSpPr>
        <p:spPr>
          <a:xfrm>
            <a:off x="4617720" y="2834640"/>
            <a:ext cx="4023360" cy="1325880"/>
          </a:xfrm>
          <a:prstGeom prst="roundRect">
            <a:avLst>
              <a:gd name="adj" fmla="val 5517"/>
            </a:avLst>
          </a:prstGeom>
          <a:solidFill>
            <a:srgbClr val="F0FDF4"/>
          </a:solidFill>
          <a:ln w="12700">
            <a:solidFill>
              <a:srgbClr val="DCFCE7"/>
            </a:solidFill>
            <a:prstDash val="solid"/>
          </a:ln>
        </p:spPr>
      </p:sp>
      <p:sp>
        <p:nvSpPr>
          <p:cNvPr id="19" name="Shape 17"/>
          <p:cNvSpPr/>
          <p:nvPr/>
        </p:nvSpPr>
        <p:spPr>
          <a:xfrm>
            <a:off x="4617720" y="2944368"/>
            <a:ext cx="64008" cy="1106424"/>
          </a:xfrm>
          <a:prstGeom prst="rect">
            <a:avLst/>
          </a:prstGeom>
          <a:solidFill>
            <a:srgbClr val="15803D"/>
          </a:solidFill>
          <a:ln w="12700">
            <a:solidFill>
              <a:srgbClr val="15803D"/>
            </a:solidFill>
            <a:prstDash val="solid"/>
          </a:ln>
        </p:spPr>
      </p:sp>
      <p:sp>
        <p:nvSpPr>
          <p:cNvPr id="20" name="Text 18"/>
          <p:cNvSpPr/>
          <p:nvPr/>
        </p:nvSpPr>
        <p:spPr>
          <a:xfrm>
            <a:off x="4800600" y="2907792"/>
            <a:ext cx="3749040" cy="365760"/>
          </a:xfrm>
          <a:prstGeom prst="rect">
            <a:avLst/>
          </a:prstGeom>
          <a:noFill/>
          <a:ln/>
        </p:spPr>
        <p:txBody>
          <a:bodyPr wrap="square" lIns="0" tIns="0" rIns="0" bIns="0" rtlCol="0" anchor="ctr"/>
          <a:lstStyle/>
          <a:p>
            <a:pPr indent="0" marL="0">
              <a:buNone/>
            </a:pPr>
            <a:r>
              <a:rPr lang="en-US" sz="1700" b="1" dirty="0">
                <a:solidFill>
                  <a:srgbClr val="14532D"/>
                </a:solidFill>
                <a:latin typeface="Calibri" pitchFamily="34" charset="0"/>
                <a:ea typeface="Calibri" pitchFamily="34" charset="-122"/>
                <a:cs typeface="Calibri" pitchFamily="34" charset="-120"/>
              </a:rPr>
              <a:t>Administration</a:t>
            </a:r>
            <a:endParaRPr lang="en-US" sz="1700" dirty="0"/>
          </a:p>
        </p:txBody>
      </p:sp>
      <p:sp>
        <p:nvSpPr>
          <p:cNvPr id="21" name="Text 19"/>
          <p:cNvSpPr/>
          <p:nvPr/>
        </p:nvSpPr>
        <p:spPr>
          <a:xfrm>
            <a:off x="4800600" y="3291840"/>
            <a:ext cx="3749040" cy="795528"/>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Delivery Zones and fees, Settings</a:t>
            </a:r>
            <a:endParaRPr lang="en-US" sz="1400" dirty="0"/>
          </a:p>
          <a:p>
            <a:pPr indent="0" marL="0">
              <a:buNone/>
            </a:pPr>
            <a:r>
              <a:rPr lang="en-US" sz="1400" dirty="0">
                <a:solidFill>
                  <a:srgbClr val="1F2937"/>
                </a:solidFill>
                <a:latin typeface="Calibri" pitchFamily="34" charset="0"/>
                <a:ea typeface="Calibri" pitchFamily="34" charset="-122"/>
                <a:cs typeface="Calibri" pitchFamily="34" charset="-120"/>
              </a:rPr>
              <a:t>Reports, Customers, Users</a:t>
            </a:r>
            <a:endParaRPr lang="en-US" sz="1400" dirty="0"/>
          </a:p>
          <a:p>
            <a:pPr indent="0" marL="0">
              <a:buNone/>
            </a:pPr>
            <a:r>
              <a:rPr lang="en-US" sz="1400" dirty="0">
                <a:solidFill>
                  <a:srgbClr val="1F2937"/>
                </a:solidFill>
                <a:latin typeface="Calibri" pitchFamily="34" charset="0"/>
                <a:ea typeface="Calibri" pitchFamily="34" charset="-122"/>
                <a:cs typeface="Calibri" pitchFamily="34" charset="-120"/>
              </a:rPr>
              <a:t>Notification Logs</a:t>
            </a:r>
            <a:endParaRPr lang="en-US" sz="1400" dirty="0"/>
          </a:p>
        </p:txBody>
      </p:sp>
      <p:sp>
        <p:nvSpPr>
          <p:cNvPr id="22" name="Text 20"/>
          <p:cNvSpPr/>
          <p:nvPr/>
        </p:nvSpPr>
        <p:spPr>
          <a:xfrm>
            <a:off x="502920" y="4297680"/>
            <a:ext cx="8138160" cy="457200"/>
          </a:xfrm>
          <a:prstGeom prst="rect">
            <a:avLst/>
          </a:prstGeom>
          <a:noFill/>
          <a:ln/>
        </p:spPr>
        <p:txBody>
          <a:bodyPr wrap="square" lIns="0" tIns="0" rIns="0" bIns="0" rtlCol="0" anchor="ctr"/>
          <a:lstStyle/>
          <a:p>
            <a:pPr indent="0" marL="0">
              <a:buNone/>
            </a:pPr>
            <a:r>
              <a:rPr lang="en-US" sz="1400" b="1" dirty="0">
                <a:solidFill>
                  <a:srgbClr val="052312"/>
                </a:solidFill>
                <a:latin typeface="Calibri" pitchFamily="34" charset="0"/>
                <a:ea typeface="Calibri" pitchFamily="34" charset="-122"/>
                <a:cs typeface="Calibri" pitchFamily="34" charset="-120"/>
              </a:rPr>
              <a:t>Four staff roles: </a:t>
            </a:r>
            <a:pPr indent="0" marL="0">
              <a:buNone/>
            </a:pPr>
            <a:r>
              <a:rPr lang="en-US" sz="1400" dirty="0">
                <a:solidFill>
                  <a:srgbClr val="1F2937"/>
                </a:solidFill>
                <a:latin typeface="Calibri" pitchFamily="34" charset="0"/>
                <a:ea typeface="Calibri" pitchFamily="34" charset="-122"/>
                <a:cs typeface="Calibri" pitchFamily="34" charset="-120"/>
              </a:rPr>
              <a:t>Super Admin, Inventory Officer, Marketing Admin, Support Agent. Coupons have no admin screen yet.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5803D"/>
          </a:solidFill>
          <a:ln w="12700">
            <a:solidFill>
              <a:srgbClr val="15803D"/>
            </a:solidFill>
            <a:prstDash val="solid"/>
          </a:ln>
        </p:spPr>
      </p:sp>
      <p:sp>
        <p:nvSpPr>
          <p:cNvPr id="3" name="Text 1"/>
          <p:cNvSpPr/>
          <p:nvPr/>
        </p:nvSpPr>
        <p:spPr>
          <a:xfrm>
            <a:off x="502920" y="274320"/>
            <a:ext cx="8138160" cy="640080"/>
          </a:xfrm>
          <a:prstGeom prst="rect">
            <a:avLst/>
          </a:prstGeom>
          <a:noFill/>
          <a:ln/>
        </p:spPr>
        <p:txBody>
          <a:bodyPr wrap="square" lIns="0" tIns="0" rIns="0" bIns="0" rtlCol="0" anchor="ctr"/>
          <a:lstStyle/>
          <a:p>
            <a:pPr indent="0" marL="0">
              <a:buNone/>
            </a:pPr>
            <a:r>
              <a:rPr lang="en-US" sz="3200" b="1" dirty="0">
                <a:solidFill>
                  <a:srgbClr val="052312"/>
                </a:solidFill>
                <a:latin typeface="Calibri" pitchFamily="34" charset="0"/>
                <a:ea typeface="Calibri" pitchFamily="34" charset="-122"/>
                <a:cs typeface="Calibri" pitchFamily="34" charset="-120"/>
              </a:rPr>
              <a:t>How it is built</a:t>
            </a:r>
            <a:endParaRPr lang="en-US" sz="3200" dirty="0"/>
          </a:p>
        </p:txBody>
      </p:sp>
      <p:sp>
        <p:nvSpPr>
          <p:cNvPr id="4" name="Text 2"/>
          <p:cNvSpPr/>
          <p:nvPr/>
        </p:nvSpPr>
        <p:spPr>
          <a:xfrm>
            <a:off x="502920" y="896112"/>
            <a:ext cx="8138160" cy="365760"/>
          </a:xfrm>
          <a:prstGeom prst="rect">
            <a:avLst/>
          </a:prstGeom>
          <a:noFill/>
          <a:ln/>
        </p:spPr>
        <p:txBody>
          <a:bodyPr wrap="square" lIns="0" tIns="0" rIns="0" bIns="0" rtlCol="0" anchor="ctr"/>
          <a:lstStyle/>
          <a:p>
            <a:pPr indent="0" marL="0">
              <a:buNone/>
            </a:pPr>
            <a:r>
              <a:rPr lang="en-US" sz="1600" dirty="0">
                <a:solidFill>
                  <a:srgbClr val="4B5563"/>
                </a:solidFill>
                <a:latin typeface="Calibri" pitchFamily="34" charset="0"/>
                <a:ea typeface="Calibri" pitchFamily="34" charset="-122"/>
                <a:cs typeface="Calibri" pitchFamily="34" charset="-120"/>
              </a:rPr>
              <a:t>One Laravel application, deployed with Docker</a:t>
            </a:r>
            <a:endParaRPr lang="en-US" sz="1600" dirty="0"/>
          </a:p>
        </p:txBody>
      </p:sp>
      <p:sp>
        <p:nvSpPr>
          <p:cNvPr id="5" name="Text 3"/>
          <p:cNvSpPr/>
          <p:nvPr/>
        </p:nvSpPr>
        <p:spPr>
          <a:xfrm>
            <a:off x="502920" y="4800600"/>
            <a:ext cx="8138160" cy="22860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CY-Market  |  System overview  |  5</a:t>
            </a:r>
            <a:endParaRPr lang="en-US" sz="1000" dirty="0"/>
          </a:p>
        </p:txBody>
      </p:sp>
      <p:sp>
        <p:nvSpPr>
          <p:cNvPr id="6" name="Shape 4"/>
          <p:cNvSpPr/>
          <p:nvPr/>
        </p:nvSpPr>
        <p:spPr>
          <a:xfrm>
            <a:off x="502920" y="1554480"/>
            <a:ext cx="1371600" cy="731520"/>
          </a:xfrm>
          <a:prstGeom prst="roundRect">
            <a:avLst>
              <a:gd name="adj" fmla="val 7500"/>
            </a:avLst>
          </a:prstGeom>
          <a:solidFill>
            <a:srgbClr val="14532D"/>
          </a:solidFill>
          <a:ln w="12700">
            <a:solidFill>
              <a:srgbClr val="14532D"/>
            </a:solidFill>
            <a:prstDash val="solid"/>
          </a:ln>
        </p:spPr>
      </p:sp>
      <p:sp>
        <p:nvSpPr>
          <p:cNvPr id="7" name="Text 5"/>
          <p:cNvSpPr/>
          <p:nvPr/>
        </p:nvSpPr>
        <p:spPr>
          <a:xfrm>
            <a:off x="502920" y="1554480"/>
            <a:ext cx="1371600" cy="731520"/>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Customer browser / PWA</a:t>
            </a:r>
            <a:endParaRPr lang="en-US" sz="1300" dirty="0"/>
          </a:p>
        </p:txBody>
      </p:sp>
      <p:sp>
        <p:nvSpPr>
          <p:cNvPr id="8" name="Shape 6"/>
          <p:cNvSpPr/>
          <p:nvPr/>
        </p:nvSpPr>
        <p:spPr>
          <a:xfrm>
            <a:off x="1920240" y="1920240"/>
            <a:ext cx="365760" cy="0"/>
          </a:xfrm>
          <a:prstGeom prst="line">
            <a:avLst/>
          </a:prstGeom>
          <a:noFill/>
          <a:ln w="25400">
            <a:solidFill>
              <a:srgbClr val="6B7280"/>
            </a:solidFill>
            <a:prstDash val="solid"/>
            <a:tailEnd type="triangle"/>
          </a:ln>
        </p:spPr>
      </p:sp>
      <p:sp>
        <p:nvSpPr>
          <p:cNvPr id="9" name="Shape 7"/>
          <p:cNvSpPr/>
          <p:nvPr/>
        </p:nvSpPr>
        <p:spPr>
          <a:xfrm>
            <a:off x="2331720" y="1554480"/>
            <a:ext cx="1005840" cy="731520"/>
          </a:xfrm>
          <a:prstGeom prst="roundRect">
            <a:avLst>
              <a:gd name="adj" fmla="val 7500"/>
            </a:avLst>
          </a:prstGeom>
          <a:solidFill>
            <a:srgbClr val="16A34A"/>
          </a:solidFill>
          <a:ln w="12700">
            <a:solidFill>
              <a:srgbClr val="16A34A"/>
            </a:solidFill>
            <a:prstDash val="solid"/>
          </a:ln>
        </p:spPr>
      </p:sp>
      <p:sp>
        <p:nvSpPr>
          <p:cNvPr id="10" name="Text 8"/>
          <p:cNvSpPr/>
          <p:nvPr/>
        </p:nvSpPr>
        <p:spPr>
          <a:xfrm>
            <a:off x="2331720" y="1554480"/>
            <a:ext cx="1005840" cy="731520"/>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Caddy (HTTPS)</a:t>
            </a:r>
            <a:endParaRPr lang="en-US" sz="1300" dirty="0"/>
          </a:p>
        </p:txBody>
      </p:sp>
      <p:sp>
        <p:nvSpPr>
          <p:cNvPr id="11" name="Shape 9"/>
          <p:cNvSpPr/>
          <p:nvPr/>
        </p:nvSpPr>
        <p:spPr>
          <a:xfrm>
            <a:off x="3383280" y="1920240"/>
            <a:ext cx="365760" cy="0"/>
          </a:xfrm>
          <a:prstGeom prst="line">
            <a:avLst/>
          </a:prstGeom>
          <a:noFill/>
          <a:ln w="25400">
            <a:solidFill>
              <a:srgbClr val="6B7280"/>
            </a:solidFill>
            <a:prstDash val="solid"/>
            <a:tailEnd type="triangle"/>
          </a:ln>
        </p:spPr>
      </p:sp>
      <p:sp>
        <p:nvSpPr>
          <p:cNvPr id="12" name="Shape 10"/>
          <p:cNvSpPr/>
          <p:nvPr/>
        </p:nvSpPr>
        <p:spPr>
          <a:xfrm>
            <a:off x="3794760" y="1325880"/>
            <a:ext cx="3017520" cy="1737360"/>
          </a:xfrm>
          <a:prstGeom prst="roundRect">
            <a:avLst>
              <a:gd name="adj" fmla="val 4211"/>
            </a:avLst>
          </a:prstGeom>
          <a:solidFill>
            <a:srgbClr val="F0FDF4"/>
          </a:solidFill>
          <a:ln w="19050">
            <a:solidFill>
              <a:srgbClr val="15803D"/>
            </a:solidFill>
            <a:prstDash val="solid"/>
          </a:ln>
        </p:spPr>
      </p:sp>
      <p:sp>
        <p:nvSpPr>
          <p:cNvPr id="13" name="Text 11"/>
          <p:cNvSpPr/>
          <p:nvPr/>
        </p:nvSpPr>
        <p:spPr>
          <a:xfrm>
            <a:off x="3840480" y="1371600"/>
            <a:ext cx="2926080" cy="320040"/>
          </a:xfrm>
          <a:prstGeom prst="rect">
            <a:avLst/>
          </a:prstGeom>
          <a:noFill/>
          <a:ln/>
        </p:spPr>
        <p:txBody>
          <a:bodyPr wrap="square" lIns="0" tIns="0" rIns="0" bIns="0" rtlCol="0" anchor="ctr"/>
          <a:lstStyle/>
          <a:p>
            <a:pPr algn="ctr" indent="0" marL="0">
              <a:buNone/>
            </a:pPr>
            <a:r>
              <a:rPr lang="en-US" sz="1300" b="1" dirty="0">
                <a:solidFill>
                  <a:srgbClr val="052312"/>
                </a:solidFill>
                <a:latin typeface="Calibri" pitchFamily="34" charset="0"/>
                <a:ea typeface="Calibri" pitchFamily="34" charset="-122"/>
                <a:cs typeface="Calibri" pitchFamily="34" charset="-120"/>
              </a:rPr>
              <a:t>Laravel 13 app (Apache + PHP)</a:t>
            </a:r>
            <a:endParaRPr lang="en-US" sz="1300" dirty="0"/>
          </a:p>
        </p:txBody>
      </p:sp>
      <p:sp>
        <p:nvSpPr>
          <p:cNvPr id="14" name="Shape 12"/>
          <p:cNvSpPr/>
          <p:nvPr/>
        </p:nvSpPr>
        <p:spPr>
          <a:xfrm>
            <a:off x="3931920" y="1783080"/>
            <a:ext cx="1371600" cy="548640"/>
          </a:xfrm>
          <a:prstGeom prst="roundRect">
            <a:avLst>
              <a:gd name="adj" fmla="val 10000"/>
            </a:avLst>
          </a:prstGeom>
          <a:solidFill>
            <a:srgbClr val="15803D"/>
          </a:solidFill>
          <a:ln w="12700">
            <a:solidFill>
              <a:srgbClr val="15803D"/>
            </a:solidFill>
            <a:prstDash val="solid"/>
          </a:ln>
        </p:spPr>
      </p:sp>
      <p:sp>
        <p:nvSpPr>
          <p:cNvPr id="15" name="Text 13"/>
          <p:cNvSpPr/>
          <p:nvPr/>
        </p:nvSpPr>
        <p:spPr>
          <a:xfrm>
            <a:off x="3931920" y="1783080"/>
            <a:ext cx="1371600" cy="548640"/>
          </a:xfrm>
          <a:prstGeom prst="rect">
            <a:avLst/>
          </a:prstGeom>
          <a:noFill/>
          <a:ln/>
        </p:spPr>
        <p:txBody>
          <a:bodyPr wrap="square" lIns="38100" tIns="38100" rIns="38100" bIns="381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Storefront (Blade, Tailwind, Vite)</a:t>
            </a:r>
            <a:endParaRPr lang="en-US" sz="1100" dirty="0"/>
          </a:p>
        </p:txBody>
      </p:sp>
      <p:sp>
        <p:nvSpPr>
          <p:cNvPr id="16" name="Shape 14"/>
          <p:cNvSpPr/>
          <p:nvPr/>
        </p:nvSpPr>
        <p:spPr>
          <a:xfrm>
            <a:off x="5349240" y="1783080"/>
            <a:ext cx="1371600" cy="548640"/>
          </a:xfrm>
          <a:prstGeom prst="roundRect">
            <a:avLst>
              <a:gd name="adj" fmla="val 10000"/>
            </a:avLst>
          </a:prstGeom>
          <a:solidFill>
            <a:srgbClr val="15803D"/>
          </a:solidFill>
          <a:ln w="12700">
            <a:solidFill>
              <a:srgbClr val="15803D"/>
            </a:solidFill>
            <a:prstDash val="solid"/>
          </a:ln>
        </p:spPr>
      </p:sp>
      <p:sp>
        <p:nvSpPr>
          <p:cNvPr id="17" name="Text 15"/>
          <p:cNvSpPr/>
          <p:nvPr/>
        </p:nvSpPr>
        <p:spPr>
          <a:xfrm>
            <a:off x="5349240" y="1783080"/>
            <a:ext cx="1371600" cy="548640"/>
          </a:xfrm>
          <a:prstGeom prst="rect">
            <a:avLst/>
          </a:prstGeom>
          <a:noFill/>
          <a:ln/>
        </p:spPr>
        <p:txBody>
          <a:bodyPr wrap="square" lIns="38100" tIns="38100" rIns="38100" bIns="381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Admin (Filament 3, roles)</a:t>
            </a:r>
            <a:endParaRPr lang="en-US" sz="1100" dirty="0"/>
          </a:p>
        </p:txBody>
      </p:sp>
      <p:sp>
        <p:nvSpPr>
          <p:cNvPr id="18" name="Shape 16"/>
          <p:cNvSpPr/>
          <p:nvPr/>
        </p:nvSpPr>
        <p:spPr>
          <a:xfrm>
            <a:off x="3931920" y="2423160"/>
            <a:ext cx="2788920" cy="502920"/>
          </a:xfrm>
          <a:prstGeom prst="roundRect">
            <a:avLst>
              <a:gd name="adj" fmla="val 10909"/>
            </a:avLst>
          </a:prstGeom>
          <a:solidFill>
            <a:srgbClr val="14532D"/>
          </a:solidFill>
          <a:ln w="12700">
            <a:solidFill>
              <a:srgbClr val="14532D"/>
            </a:solidFill>
            <a:prstDash val="solid"/>
          </a:ln>
        </p:spPr>
      </p:sp>
      <p:sp>
        <p:nvSpPr>
          <p:cNvPr id="19" name="Text 17"/>
          <p:cNvSpPr/>
          <p:nvPr/>
        </p:nvSpPr>
        <p:spPr>
          <a:xfrm>
            <a:off x="3931920" y="2423160"/>
            <a:ext cx="2788920" cy="502920"/>
          </a:xfrm>
          <a:prstGeom prst="rect">
            <a:avLst/>
          </a:prstGeom>
          <a:noFill/>
          <a:ln/>
        </p:spPr>
        <p:txBody>
          <a:bodyPr wrap="square" lIns="38100" tIns="38100" rIns="38100" bIns="381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Services: cart, checkout, orders, stock, payments</a:t>
            </a:r>
            <a:endParaRPr lang="en-US" sz="1100" dirty="0"/>
          </a:p>
        </p:txBody>
      </p:sp>
      <p:sp>
        <p:nvSpPr>
          <p:cNvPr id="20" name="Shape 18"/>
          <p:cNvSpPr/>
          <p:nvPr/>
        </p:nvSpPr>
        <p:spPr>
          <a:xfrm>
            <a:off x="6858000" y="2194560"/>
            <a:ext cx="365760" cy="0"/>
          </a:xfrm>
          <a:prstGeom prst="line">
            <a:avLst/>
          </a:prstGeom>
          <a:noFill/>
          <a:ln w="25400">
            <a:solidFill>
              <a:srgbClr val="6B7280"/>
            </a:solidFill>
            <a:prstDash val="solid"/>
            <a:tailEnd type="triangle"/>
          </a:ln>
        </p:spPr>
      </p:sp>
      <p:sp>
        <p:nvSpPr>
          <p:cNvPr id="21" name="Shape 19"/>
          <p:cNvSpPr/>
          <p:nvPr/>
        </p:nvSpPr>
        <p:spPr>
          <a:xfrm>
            <a:off x="7269480" y="1783080"/>
            <a:ext cx="1371600" cy="822960"/>
          </a:xfrm>
          <a:prstGeom prst="roundRect">
            <a:avLst>
              <a:gd name="adj" fmla="val 6667"/>
            </a:avLst>
          </a:prstGeom>
          <a:solidFill>
            <a:srgbClr val="052312"/>
          </a:solidFill>
          <a:ln w="12700">
            <a:solidFill>
              <a:srgbClr val="052312"/>
            </a:solidFill>
            <a:prstDash val="solid"/>
          </a:ln>
        </p:spPr>
      </p:sp>
      <p:sp>
        <p:nvSpPr>
          <p:cNvPr id="22" name="Text 20"/>
          <p:cNvSpPr/>
          <p:nvPr/>
        </p:nvSpPr>
        <p:spPr>
          <a:xfrm>
            <a:off x="7269480" y="1783080"/>
            <a:ext cx="1371600" cy="822960"/>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MySQL 8 database</a:t>
            </a:r>
            <a:endParaRPr lang="en-US" sz="1300" dirty="0"/>
          </a:p>
        </p:txBody>
      </p:sp>
      <p:sp>
        <p:nvSpPr>
          <p:cNvPr id="23" name="Shape 21"/>
          <p:cNvSpPr/>
          <p:nvPr/>
        </p:nvSpPr>
        <p:spPr>
          <a:xfrm>
            <a:off x="3794760" y="3246120"/>
            <a:ext cx="1417320" cy="548640"/>
          </a:xfrm>
          <a:prstGeom prst="roundRect">
            <a:avLst>
              <a:gd name="adj" fmla="val 10000"/>
            </a:avLst>
          </a:prstGeom>
          <a:solidFill>
            <a:srgbClr val="6B7280"/>
          </a:solidFill>
          <a:ln w="12700">
            <a:solidFill>
              <a:srgbClr val="6B7280"/>
            </a:solidFill>
            <a:prstDash val="solid"/>
          </a:ln>
        </p:spPr>
      </p:sp>
      <p:sp>
        <p:nvSpPr>
          <p:cNvPr id="24" name="Text 22"/>
          <p:cNvSpPr/>
          <p:nvPr/>
        </p:nvSpPr>
        <p:spPr>
          <a:xfrm>
            <a:off x="3794760" y="3246120"/>
            <a:ext cx="1417320" cy="548640"/>
          </a:xfrm>
          <a:prstGeom prst="rect">
            <a:avLst/>
          </a:prstGeom>
          <a:noFill/>
          <a:ln/>
        </p:spPr>
        <p:txBody>
          <a:bodyPr wrap="square" lIns="38100" tIns="38100" rIns="38100" bIns="381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Scheduler + queue worker</a:t>
            </a:r>
            <a:endParaRPr lang="en-US" sz="1100" dirty="0"/>
          </a:p>
        </p:txBody>
      </p:sp>
      <p:sp>
        <p:nvSpPr>
          <p:cNvPr id="25" name="Shape 23"/>
          <p:cNvSpPr/>
          <p:nvPr/>
        </p:nvSpPr>
        <p:spPr>
          <a:xfrm>
            <a:off x="5303520" y="3246120"/>
            <a:ext cx="1508760" cy="548640"/>
          </a:xfrm>
          <a:prstGeom prst="roundRect">
            <a:avLst>
              <a:gd name="adj" fmla="val 10000"/>
            </a:avLst>
          </a:prstGeom>
          <a:solidFill>
            <a:srgbClr val="6B7280"/>
          </a:solidFill>
          <a:ln w="12700">
            <a:solidFill>
              <a:srgbClr val="6B7280"/>
            </a:solidFill>
            <a:prstDash val="solid"/>
          </a:ln>
        </p:spPr>
      </p:sp>
      <p:sp>
        <p:nvSpPr>
          <p:cNvPr id="26" name="Text 24"/>
          <p:cNvSpPr/>
          <p:nvPr/>
        </p:nvSpPr>
        <p:spPr>
          <a:xfrm>
            <a:off x="5303520" y="3246120"/>
            <a:ext cx="1508760" cy="548640"/>
          </a:xfrm>
          <a:prstGeom prst="rect">
            <a:avLst/>
          </a:prstGeom>
          <a:noFill/>
          <a:ln/>
        </p:spPr>
        <p:txBody>
          <a:bodyPr wrap="square" lIns="38100" tIns="38100" rIns="38100" bIns="381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SMS + email</a:t>
            </a:r>
            <a:endParaRPr lang="en-US" sz="1100" dirty="0"/>
          </a:p>
        </p:txBody>
      </p:sp>
      <p:sp>
        <p:nvSpPr>
          <p:cNvPr id="27" name="Shape 25"/>
          <p:cNvSpPr/>
          <p:nvPr/>
        </p:nvSpPr>
        <p:spPr>
          <a:xfrm>
            <a:off x="6858000" y="3246120"/>
            <a:ext cx="1783080" cy="548640"/>
          </a:xfrm>
          <a:prstGeom prst="roundRect">
            <a:avLst>
              <a:gd name="adj" fmla="val 10000"/>
            </a:avLst>
          </a:prstGeom>
          <a:solidFill>
            <a:srgbClr val="B45309"/>
          </a:solidFill>
          <a:ln w="12700">
            <a:solidFill>
              <a:srgbClr val="B45309"/>
            </a:solidFill>
            <a:prstDash val="solid"/>
          </a:ln>
        </p:spPr>
      </p:sp>
      <p:sp>
        <p:nvSpPr>
          <p:cNvPr id="28" name="Text 26"/>
          <p:cNvSpPr/>
          <p:nvPr/>
        </p:nvSpPr>
        <p:spPr>
          <a:xfrm>
            <a:off x="6858000" y="3246120"/>
            <a:ext cx="1783080" cy="548640"/>
          </a:xfrm>
          <a:prstGeom prst="rect">
            <a:avLst/>
          </a:prstGeom>
          <a:noFill/>
          <a:ln/>
        </p:spPr>
        <p:txBody>
          <a:bodyPr wrap="square" lIns="38100" tIns="38100" rIns="38100" bIns="381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MTN MoMo (dormant)</a:t>
            </a:r>
            <a:endParaRPr lang="en-US" sz="1100" dirty="0"/>
          </a:p>
        </p:txBody>
      </p:sp>
      <p:sp>
        <p:nvSpPr>
          <p:cNvPr id="29" name="Text 27"/>
          <p:cNvSpPr/>
          <p:nvPr/>
        </p:nvSpPr>
        <p:spPr>
          <a:xfrm>
            <a:off x="502920" y="4023360"/>
            <a:ext cx="8138160" cy="54864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Delivery pipeline: GitHub Actions builds the image and publishes it to GHCR on every push to main. It does not run tests first.</a:t>
            </a:r>
            <a:endParaRPr lang="en-US" sz="1400" dirty="0"/>
          </a:p>
        </p:txBody>
      </p:sp>
      <p:sp>
        <p:nvSpPr>
          <p:cNvPr id="30" name="Text 28"/>
          <p:cNvSpPr/>
          <p:nvPr/>
        </p:nvSpPr>
        <p:spPr>
          <a:xfrm>
            <a:off x="502920" y="2606040"/>
            <a:ext cx="3108960" cy="548640"/>
          </a:xfrm>
          <a:prstGeom prst="rect">
            <a:avLst/>
          </a:prstGeom>
          <a:noFill/>
          <a:ln/>
        </p:spPr>
        <p:txBody>
          <a:bodyPr wrap="square" lIns="0" tIns="0" rIns="0" bIns="0" rtlCol="0" anchor="ctr"/>
          <a:lstStyle/>
          <a:p>
            <a:pPr indent="0" marL="0">
              <a:buNone/>
            </a:pPr>
            <a:r>
              <a:rPr lang="en-US" sz="1200" dirty="0">
                <a:solidFill>
                  <a:srgbClr val="4B5563"/>
                </a:solidFill>
                <a:latin typeface="Calibri" pitchFamily="34" charset="0"/>
                <a:ea typeface="Calibri" pitchFamily="34" charset="-122"/>
                <a:cs typeface="Calibri" pitchFamily="34" charset="-120"/>
              </a:rPr>
              <a:t>Roles via spatie/laravel-permission.</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5803D"/>
          </a:solidFill>
          <a:ln w="12700">
            <a:solidFill>
              <a:srgbClr val="15803D"/>
            </a:solidFill>
            <a:prstDash val="solid"/>
          </a:ln>
        </p:spPr>
      </p:sp>
      <p:sp>
        <p:nvSpPr>
          <p:cNvPr id="3" name="Text 1"/>
          <p:cNvSpPr/>
          <p:nvPr/>
        </p:nvSpPr>
        <p:spPr>
          <a:xfrm>
            <a:off x="502920" y="274320"/>
            <a:ext cx="8138160" cy="640080"/>
          </a:xfrm>
          <a:prstGeom prst="rect">
            <a:avLst/>
          </a:prstGeom>
          <a:noFill/>
          <a:ln/>
        </p:spPr>
        <p:txBody>
          <a:bodyPr wrap="square" lIns="0" tIns="0" rIns="0" bIns="0" rtlCol="0" anchor="ctr"/>
          <a:lstStyle/>
          <a:p>
            <a:pPr indent="0" marL="0">
              <a:buNone/>
            </a:pPr>
            <a:r>
              <a:rPr lang="en-US" sz="3200" b="1" dirty="0">
                <a:solidFill>
                  <a:srgbClr val="052312"/>
                </a:solidFill>
                <a:latin typeface="Calibri" pitchFamily="34" charset="0"/>
                <a:ea typeface="Calibri" pitchFamily="34" charset="-122"/>
                <a:cs typeface="Calibri" pitchFamily="34" charset="-120"/>
              </a:rPr>
              <a:t>Orders, payments and stock</a:t>
            </a:r>
            <a:endParaRPr lang="en-US" sz="3200" dirty="0"/>
          </a:p>
        </p:txBody>
      </p:sp>
      <p:sp>
        <p:nvSpPr>
          <p:cNvPr id="4" name="Text 2"/>
          <p:cNvSpPr/>
          <p:nvPr/>
        </p:nvSpPr>
        <p:spPr>
          <a:xfrm>
            <a:off x="502920" y="896112"/>
            <a:ext cx="8138160" cy="365760"/>
          </a:xfrm>
          <a:prstGeom prst="rect">
            <a:avLst/>
          </a:prstGeom>
          <a:noFill/>
          <a:ln/>
        </p:spPr>
        <p:txBody>
          <a:bodyPr wrap="square" lIns="0" tIns="0" rIns="0" bIns="0" rtlCol="0" anchor="ctr"/>
          <a:lstStyle/>
          <a:p>
            <a:pPr indent="0" marL="0">
              <a:buNone/>
            </a:pPr>
            <a:r>
              <a:rPr lang="en-US" sz="1600" dirty="0">
                <a:solidFill>
                  <a:srgbClr val="4B5563"/>
                </a:solidFill>
                <a:latin typeface="Calibri" pitchFamily="34" charset="0"/>
                <a:ea typeface="Calibri" pitchFamily="34" charset="-122"/>
                <a:cs typeface="Calibri" pitchFamily="34" charset="-120"/>
              </a:rPr>
              <a:t>How one order moves through the system</a:t>
            </a:r>
            <a:endParaRPr lang="en-US" sz="1600" dirty="0"/>
          </a:p>
        </p:txBody>
      </p:sp>
      <p:sp>
        <p:nvSpPr>
          <p:cNvPr id="5" name="Text 3"/>
          <p:cNvSpPr/>
          <p:nvPr/>
        </p:nvSpPr>
        <p:spPr>
          <a:xfrm>
            <a:off x="502920" y="4800600"/>
            <a:ext cx="8138160" cy="22860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CY-Market  |  System overview  |  6</a:t>
            </a:r>
            <a:endParaRPr lang="en-US" sz="1000" dirty="0"/>
          </a:p>
        </p:txBody>
      </p:sp>
      <p:sp>
        <p:nvSpPr>
          <p:cNvPr id="6" name="Text 4"/>
          <p:cNvSpPr/>
          <p:nvPr/>
        </p:nvSpPr>
        <p:spPr>
          <a:xfrm>
            <a:off x="502920" y="1280160"/>
            <a:ext cx="2743200" cy="274320"/>
          </a:xfrm>
          <a:prstGeom prst="rect">
            <a:avLst/>
          </a:prstGeom>
          <a:noFill/>
          <a:ln/>
        </p:spPr>
        <p:txBody>
          <a:bodyPr wrap="square" lIns="0" tIns="0" rIns="0" bIns="0" rtlCol="0" anchor="ctr"/>
          <a:lstStyle/>
          <a:p>
            <a:pPr indent="0" marL="0">
              <a:buNone/>
            </a:pPr>
            <a:r>
              <a:rPr lang="en-US" sz="1500" b="1" dirty="0">
                <a:solidFill>
                  <a:srgbClr val="052312"/>
                </a:solidFill>
                <a:latin typeface="Calibri" pitchFamily="34" charset="0"/>
                <a:ea typeface="Calibri" pitchFamily="34" charset="-122"/>
                <a:cs typeface="Calibri" pitchFamily="34" charset="-120"/>
              </a:rPr>
              <a:t>Order status</a:t>
            </a:r>
            <a:endParaRPr lang="en-US" sz="1500" dirty="0"/>
          </a:p>
        </p:txBody>
      </p:sp>
      <p:sp>
        <p:nvSpPr>
          <p:cNvPr id="7" name="Shape 5"/>
          <p:cNvSpPr/>
          <p:nvPr/>
        </p:nvSpPr>
        <p:spPr>
          <a:xfrm>
            <a:off x="502920" y="1600200"/>
            <a:ext cx="1318260" cy="640080"/>
          </a:xfrm>
          <a:prstGeom prst="homePlate">
            <a:avLst/>
          </a:prstGeom>
          <a:solidFill>
            <a:srgbClr val="15803D"/>
          </a:solidFill>
          <a:ln w="12700">
            <a:solidFill>
              <a:srgbClr val="FFFFFF"/>
            </a:solidFill>
            <a:prstDash val="solid"/>
          </a:ln>
        </p:spPr>
      </p:sp>
      <p:sp>
        <p:nvSpPr>
          <p:cNvPr id="8" name="Text 6"/>
          <p:cNvSpPr/>
          <p:nvPr/>
        </p:nvSpPr>
        <p:spPr>
          <a:xfrm>
            <a:off x="548640" y="1600200"/>
            <a:ext cx="1089660"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Pending payment</a:t>
            </a:r>
            <a:endParaRPr lang="en-US" sz="1200" dirty="0"/>
          </a:p>
        </p:txBody>
      </p:sp>
      <p:sp>
        <p:nvSpPr>
          <p:cNvPr id="9" name="Shape 7"/>
          <p:cNvSpPr/>
          <p:nvPr/>
        </p:nvSpPr>
        <p:spPr>
          <a:xfrm>
            <a:off x="1866900" y="1600200"/>
            <a:ext cx="1318260" cy="640080"/>
          </a:xfrm>
          <a:prstGeom prst="homePlate">
            <a:avLst/>
          </a:prstGeom>
          <a:solidFill>
            <a:srgbClr val="16A34A"/>
          </a:solidFill>
          <a:ln w="12700">
            <a:solidFill>
              <a:srgbClr val="FFFFFF"/>
            </a:solidFill>
            <a:prstDash val="solid"/>
          </a:ln>
        </p:spPr>
      </p:sp>
      <p:sp>
        <p:nvSpPr>
          <p:cNvPr id="10" name="Text 8"/>
          <p:cNvSpPr/>
          <p:nvPr/>
        </p:nvSpPr>
        <p:spPr>
          <a:xfrm>
            <a:off x="1912620" y="1600200"/>
            <a:ext cx="1089660"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Paid</a:t>
            </a:r>
            <a:endParaRPr lang="en-US" sz="1200" dirty="0"/>
          </a:p>
        </p:txBody>
      </p:sp>
      <p:sp>
        <p:nvSpPr>
          <p:cNvPr id="11" name="Shape 9"/>
          <p:cNvSpPr/>
          <p:nvPr/>
        </p:nvSpPr>
        <p:spPr>
          <a:xfrm>
            <a:off x="3230880" y="1600200"/>
            <a:ext cx="1318260" cy="640080"/>
          </a:xfrm>
          <a:prstGeom prst="homePlate">
            <a:avLst/>
          </a:prstGeom>
          <a:solidFill>
            <a:srgbClr val="15803D"/>
          </a:solidFill>
          <a:ln w="12700">
            <a:solidFill>
              <a:srgbClr val="FFFFFF"/>
            </a:solidFill>
            <a:prstDash val="solid"/>
          </a:ln>
        </p:spPr>
      </p:sp>
      <p:sp>
        <p:nvSpPr>
          <p:cNvPr id="12" name="Text 10"/>
          <p:cNvSpPr/>
          <p:nvPr/>
        </p:nvSpPr>
        <p:spPr>
          <a:xfrm>
            <a:off x="3276600" y="1600200"/>
            <a:ext cx="1089660"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Processing</a:t>
            </a:r>
            <a:endParaRPr lang="en-US" sz="1200" dirty="0"/>
          </a:p>
        </p:txBody>
      </p:sp>
      <p:sp>
        <p:nvSpPr>
          <p:cNvPr id="13" name="Shape 11"/>
          <p:cNvSpPr/>
          <p:nvPr/>
        </p:nvSpPr>
        <p:spPr>
          <a:xfrm>
            <a:off x="4594860" y="1600200"/>
            <a:ext cx="1318260" cy="640080"/>
          </a:xfrm>
          <a:prstGeom prst="homePlate">
            <a:avLst/>
          </a:prstGeom>
          <a:solidFill>
            <a:srgbClr val="16A34A"/>
          </a:solidFill>
          <a:ln w="12700">
            <a:solidFill>
              <a:srgbClr val="FFFFFF"/>
            </a:solidFill>
            <a:prstDash val="solid"/>
          </a:ln>
        </p:spPr>
      </p:sp>
      <p:sp>
        <p:nvSpPr>
          <p:cNvPr id="14" name="Text 12"/>
          <p:cNvSpPr/>
          <p:nvPr/>
        </p:nvSpPr>
        <p:spPr>
          <a:xfrm>
            <a:off x="4640580" y="1600200"/>
            <a:ext cx="1089660"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Dispatched</a:t>
            </a:r>
            <a:endParaRPr lang="en-US" sz="1200" dirty="0"/>
          </a:p>
        </p:txBody>
      </p:sp>
      <p:sp>
        <p:nvSpPr>
          <p:cNvPr id="15" name="Shape 13"/>
          <p:cNvSpPr/>
          <p:nvPr/>
        </p:nvSpPr>
        <p:spPr>
          <a:xfrm>
            <a:off x="5958840" y="1600200"/>
            <a:ext cx="1318260" cy="640080"/>
          </a:xfrm>
          <a:prstGeom prst="homePlate">
            <a:avLst/>
          </a:prstGeom>
          <a:solidFill>
            <a:srgbClr val="15803D"/>
          </a:solidFill>
          <a:ln w="12700">
            <a:solidFill>
              <a:srgbClr val="FFFFFF"/>
            </a:solidFill>
            <a:prstDash val="solid"/>
          </a:ln>
        </p:spPr>
      </p:sp>
      <p:sp>
        <p:nvSpPr>
          <p:cNvPr id="16" name="Text 14"/>
          <p:cNvSpPr/>
          <p:nvPr/>
        </p:nvSpPr>
        <p:spPr>
          <a:xfrm>
            <a:off x="6004560" y="1600200"/>
            <a:ext cx="1089660"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Delivered</a:t>
            </a:r>
            <a:endParaRPr lang="en-US" sz="1200" dirty="0"/>
          </a:p>
        </p:txBody>
      </p:sp>
      <p:sp>
        <p:nvSpPr>
          <p:cNvPr id="17" name="Shape 15"/>
          <p:cNvSpPr/>
          <p:nvPr/>
        </p:nvSpPr>
        <p:spPr>
          <a:xfrm>
            <a:off x="7322820" y="1600200"/>
            <a:ext cx="1318260" cy="640080"/>
          </a:xfrm>
          <a:prstGeom prst="homePlate">
            <a:avLst/>
          </a:prstGeom>
          <a:solidFill>
            <a:srgbClr val="16A34A"/>
          </a:solidFill>
          <a:ln w="12700">
            <a:solidFill>
              <a:srgbClr val="FFFFFF"/>
            </a:solidFill>
            <a:prstDash val="solid"/>
          </a:ln>
        </p:spPr>
      </p:sp>
      <p:sp>
        <p:nvSpPr>
          <p:cNvPr id="18" name="Text 16"/>
          <p:cNvSpPr/>
          <p:nvPr/>
        </p:nvSpPr>
        <p:spPr>
          <a:xfrm>
            <a:off x="7368540" y="1600200"/>
            <a:ext cx="1089660"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Completed</a:t>
            </a:r>
            <a:endParaRPr lang="en-US" sz="1200" dirty="0"/>
          </a:p>
        </p:txBody>
      </p:sp>
      <p:sp>
        <p:nvSpPr>
          <p:cNvPr id="19" name="Text 17"/>
          <p:cNvSpPr/>
          <p:nvPr/>
        </p:nvSpPr>
        <p:spPr>
          <a:xfrm>
            <a:off x="502920" y="2286000"/>
            <a:ext cx="8138160" cy="274320"/>
          </a:xfrm>
          <a:prstGeom prst="rect">
            <a:avLst/>
          </a:prstGeom>
          <a:noFill/>
          <a:ln/>
        </p:spPr>
        <p:txBody>
          <a:bodyPr wrap="square" lIns="0" tIns="0" rIns="0" bIns="0" rtlCol="0" anchor="ctr"/>
          <a:lstStyle/>
          <a:p>
            <a:pPr indent="0" marL="0">
              <a:buNone/>
            </a:pPr>
            <a:r>
              <a:rPr lang="en-US" sz="1300" dirty="0">
                <a:solidFill>
                  <a:srgbClr val="4B5563"/>
                </a:solidFill>
                <a:latin typeface="Calibri" pitchFamily="34" charset="0"/>
                <a:ea typeface="Calibri" pitchFamily="34" charset="-122"/>
                <a:cs typeface="Calibri" pitchFamily="34" charset="-120"/>
              </a:rPr>
              <a:t>Side exits: Cancelled, and On Hold when paid stock turns out to be short.</a:t>
            </a:r>
            <a:endParaRPr lang="en-US" sz="1300" dirty="0"/>
          </a:p>
        </p:txBody>
      </p:sp>
      <p:sp>
        <p:nvSpPr>
          <p:cNvPr id="20" name="Text 18"/>
          <p:cNvSpPr/>
          <p:nvPr/>
        </p:nvSpPr>
        <p:spPr>
          <a:xfrm>
            <a:off x="502920" y="2697480"/>
            <a:ext cx="2743200" cy="274320"/>
          </a:xfrm>
          <a:prstGeom prst="rect">
            <a:avLst/>
          </a:prstGeom>
          <a:noFill/>
          <a:ln/>
        </p:spPr>
        <p:txBody>
          <a:bodyPr wrap="square" lIns="0" tIns="0" rIns="0" bIns="0" rtlCol="0" anchor="ctr"/>
          <a:lstStyle/>
          <a:p>
            <a:pPr indent="0" marL="0">
              <a:buNone/>
            </a:pPr>
            <a:r>
              <a:rPr lang="en-US" sz="1500" b="1" dirty="0">
                <a:solidFill>
                  <a:srgbClr val="052312"/>
                </a:solidFill>
                <a:latin typeface="Calibri" pitchFamily="34" charset="0"/>
                <a:ea typeface="Calibri" pitchFamily="34" charset="-122"/>
                <a:cs typeface="Calibri" pitchFamily="34" charset="-120"/>
              </a:rPr>
              <a:t>Stock</a:t>
            </a:r>
            <a:endParaRPr lang="en-US" sz="1500" dirty="0"/>
          </a:p>
        </p:txBody>
      </p:sp>
      <p:sp>
        <p:nvSpPr>
          <p:cNvPr id="21" name="Shape 19"/>
          <p:cNvSpPr/>
          <p:nvPr/>
        </p:nvSpPr>
        <p:spPr>
          <a:xfrm>
            <a:off x="502920" y="3017520"/>
            <a:ext cx="2682240" cy="594360"/>
          </a:xfrm>
          <a:prstGeom prst="homePlate">
            <a:avLst/>
          </a:prstGeom>
          <a:solidFill>
            <a:srgbClr val="14532D"/>
          </a:solidFill>
          <a:ln w="12700">
            <a:solidFill>
              <a:srgbClr val="FFFFFF"/>
            </a:solidFill>
            <a:prstDash val="solid"/>
          </a:ln>
        </p:spPr>
      </p:sp>
      <p:sp>
        <p:nvSpPr>
          <p:cNvPr id="22" name="Text 20"/>
          <p:cNvSpPr/>
          <p:nvPr/>
        </p:nvSpPr>
        <p:spPr>
          <a:xfrm>
            <a:off x="548640" y="3017520"/>
            <a:ext cx="2453640" cy="5943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Reserve at checkout</a:t>
            </a:r>
            <a:endParaRPr lang="en-US" sz="1300" dirty="0"/>
          </a:p>
        </p:txBody>
      </p:sp>
      <p:sp>
        <p:nvSpPr>
          <p:cNvPr id="23" name="Shape 21"/>
          <p:cNvSpPr/>
          <p:nvPr/>
        </p:nvSpPr>
        <p:spPr>
          <a:xfrm>
            <a:off x="3230880" y="3017520"/>
            <a:ext cx="2682240" cy="594360"/>
          </a:xfrm>
          <a:prstGeom prst="homePlate">
            <a:avLst/>
          </a:prstGeom>
          <a:solidFill>
            <a:srgbClr val="166534"/>
          </a:solidFill>
          <a:ln w="12700">
            <a:solidFill>
              <a:srgbClr val="FFFFFF"/>
            </a:solidFill>
            <a:prstDash val="solid"/>
          </a:ln>
        </p:spPr>
      </p:sp>
      <p:sp>
        <p:nvSpPr>
          <p:cNvPr id="24" name="Text 22"/>
          <p:cNvSpPr/>
          <p:nvPr/>
        </p:nvSpPr>
        <p:spPr>
          <a:xfrm>
            <a:off x="3276600" y="3017520"/>
            <a:ext cx="2453640" cy="5943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Consume when paid</a:t>
            </a:r>
            <a:endParaRPr lang="en-US" sz="1300" dirty="0"/>
          </a:p>
        </p:txBody>
      </p:sp>
      <p:sp>
        <p:nvSpPr>
          <p:cNvPr id="25" name="Shape 23"/>
          <p:cNvSpPr/>
          <p:nvPr/>
        </p:nvSpPr>
        <p:spPr>
          <a:xfrm>
            <a:off x="5958840" y="3017520"/>
            <a:ext cx="2682240" cy="594360"/>
          </a:xfrm>
          <a:prstGeom prst="homePlate">
            <a:avLst/>
          </a:prstGeom>
          <a:solidFill>
            <a:srgbClr val="14532D"/>
          </a:solidFill>
          <a:ln w="12700">
            <a:solidFill>
              <a:srgbClr val="FFFFFF"/>
            </a:solidFill>
            <a:prstDash val="solid"/>
          </a:ln>
        </p:spPr>
      </p:sp>
      <p:sp>
        <p:nvSpPr>
          <p:cNvPr id="26" name="Text 24"/>
          <p:cNvSpPr/>
          <p:nvPr/>
        </p:nvSpPr>
        <p:spPr>
          <a:xfrm>
            <a:off x="6004560" y="3017520"/>
            <a:ext cx="2453640" cy="5943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Restock if cancelled</a:t>
            </a:r>
            <a:endParaRPr lang="en-US" sz="1300" dirty="0"/>
          </a:p>
        </p:txBody>
      </p:sp>
      <p:sp>
        <p:nvSpPr>
          <p:cNvPr id="27" name="Text 25"/>
          <p:cNvSpPr/>
          <p:nvPr/>
        </p:nvSpPr>
        <p:spPr>
          <a:xfrm>
            <a:off x="502920" y="3794760"/>
            <a:ext cx="8138160" cy="731520"/>
          </a:xfrm>
          <a:prstGeom prst="rect">
            <a:avLst/>
          </a:prstGeom>
          <a:noFill/>
          <a:ln/>
        </p:spPr>
        <p:txBody>
          <a:bodyPr wrap="square" lIns="0" tIns="0" rIns="0" bIns="0" rtlCol="0" anchor="ctr"/>
          <a:lstStyle/>
          <a:p>
            <a:pPr indent="0" marL="0">
              <a:buNone/>
            </a:pPr>
            <a:r>
              <a:rPr lang="en-US" sz="1400" b="1" dirty="0">
                <a:solidFill>
                  <a:srgbClr val="052312"/>
                </a:solidFill>
                <a:latin typeface="Calibri" pitchFamily="34" charset="0"/>
                <a:ea typeface="Calibri" pitchFamily="34" charset="-122"/>
                <a:cs typeface="Calibri" pitchFamily="34" charset="-120"/>
              </a:rPr>
              <a:t>Key records: </a:t>
            </a:r>
            <a:pPr indent="0" marL="0">
              <a:buNone/>
            </a:pPr>
            <a:r>
              <a:rPr lang="en-US" sz="1400" dirty="0">
                <a:solidFill>
                  <a:srgbClr val="1F2937"/>
                </a:solidFill>
                <a:latin typeface="Calibri" pitchFamily="34" charset="0"/>
                <a:ea typeface="Calibri" pitchFamily="34" charset="-122"/>
                <a:cs typeface="Calibri" pitchFamily="34" charset="-120"/>
              </a:rPr>
              <a:t>Product, Cart, Order and items, Payment, Stock Reservation, Stock Movement, Status History, Notification Log.</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5803D"/>
          </a:solidFill>
          <a:ln w="12700">
            <a:solidFill>
              <a:srgbClr val="15803D"/>
            </a:solidFill>
            <a:prstDash val="solid"/>
          </a:ln>
        </p:spPr>
      </p:sp>
      <p:sp>
        <p:nvSpPr>
          <p:cNvPr id="3" name="Text 1"/>
          <p:cNvSpPr/>
          <p:nvPr/>
        </p:nvSpPr>
        <p:spPr>
          <a:xfrm>
            <a:off x="502920" y="274320"/>
            <a:ext cx="8138160" cy="640080"/>
          </a:xfrm>
          <a:prstGeom prst="rect">
            <a:avLst/>
          </a:prstGeom>
          <a:noFill/>
          <a:ln/>
        </p:spPr>
        <p:txBody>
          <a:bodyPr wrap="square" lIns="0" tIns="0" rIns="0" bIns="0" rtlCol="0" anchor="ctr"/>
          <a:lstStyle/>
          <a:p>
            <a:pPr indent="0" marL="0">
              <a:buNone/>
            </a:pPr>
            <a:r>
              <a:rPr lang="en-US" sz="3200" b="1" dirty="0">
                <a:solidFill>
                  <a:srgbClr val="052312"/>
                </a:solidFill>
                <a:latin typeface="Calibri" pitchFamily="34" charset="0"/>
                <a:ea typeface="Calibri" pitchFamily="34" charset="-122"/>
                <a:cs typeface="Calibri" pitchFamily="34" charset="-120"/>
              </a:rPr>
              <a:t>Recent storefront improvements</a:t>
            </a:r>
            <a:endParaRPr lang="en-US" sz="3200" dirty="0"/>
          </a:p>
        </p:txBody>
      </p:sp>
      <p:sp>
        <p:nvSpPr>
          <p:cNvPr id="4" name="Text 2"/>
          <p:cNvSpPr/>
          <p:nvPr/>
        </p:nvSpPr>
        <p:spPr>
          <a:xfrm>
            <a:off x="502920" y="896112"/>
            <a:ext cx="8138160" cy="365760"/>
          </a:xfrm>
          <a:prstGeom prst="rect">
            <a:avLst/>
          </a:prstGeom>
          <a:noFill/>
          <a:ln/>
        </p:spPr>
        <p:txBody>
          <a:bodyPr wrap="square" lIns="0" tIns="0" rIns="0" bIns="0" rtlCol="0" anchor="ctr"/>
          <a:lstStyle/>
          <a:p>
            <a:pPr indent="0" marL="0">
              <a:buNone/>
            </a:pPr>
            <a:r>
              <a:rPr lang="en-US" sz="1600" dirty="0">
                <a:solidFill>
                  <a:srgbClr val="4B5563"/>
                </a:solidFill>
                <a:latin typeface="Calibri" pitchFamily="34" charset="0"/>
                <a:ea typeface="Calibri" pitchFamily="34" charset="-122"/>
                <a:cs typeface="Calibri" pitchFamily="34" charset="-120"/>
              </a:rPr>
              <a:t>Homepage polish, in the working tree and not yet committed</a:t>
            </a:r>
            <a:endParaRPr lang="en-US" sz="1600" dirty="0"/>
          </a:p>
        </p:txBody>
      </p:sp>
      <p:sp>
        <p:nvSpPr>
          <p:cNvPr id="5" name="Text 3"/>
          <p:cNvSpPr/>
          <p:nvPr/>
        </p:nvSpPr>
        <p:spPr>
          <a:xfrm>
            <a:off x="502920" y="4800600"/>
            <a:ext cx="8138160" cy="22860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CY-Market  |  System overview  |  7</a:t>
            </a:r>
            <a:endParaRPr lang="en-US" sz="1000" dirty="0"/>
          </a:p>
        </p:txBody>
      </p:sp>
      <p:sp>
        <p:nvSpPr>
          <p:cNvPr id="6" name="Shape 4"/>
          <p:cNvSpPr/>
          <p:nvPr/>
        </p:nvSpPr>
        <p:spPr>
          <a:xfrm>
            <a:off x="502920" y="1417320"/>
            <a:ext cx="3977640" cy="2468880"/>
          </a:xfrm>
          <a:prstGeom prst="roundRect">
            <a:avLst>
              <a:gd name="adj" fmla="val 2963"/>
            </a:avLst>
          </a:prstGeom>
          <a:solidFill>
            <a:srgbClr val="F0FDF4"/>
          </a:solidFill>
          <a:ln w="12700">
            <a:solidFill>
              <a:srgbClr val="DCFCE7"/>
            </a:solidFill>
            <a:prstDash val="solid"/>
          </a:ln>
        </p:spPr>
      </p:sp>
      <p:sp>
        <p:nvSpPr>
          <p:cNvPr id="7" name="Shape 5"/>
          <p:cNvSpPr/>
          <p:nvPr/>
        </p:nvSpPr>
        <p:spPr>
          <a:xfrm>
            <a:off x="502920" y="1527048"/>
            <a:ext cx="64008" cy="2249424"/>
          </a:xfrm>
          <a:prstGeom prst="rect">
            <a:avLst/>
          </a:prstGeom>
          <a:solidFill>
            <a:srgbClr val="15803D"/>
          </a:solidFill>
          <a:ln w="12700">
            <a:solidFill>
              <a:srgbClr val="15803D"/>
            </a:solidFill>
            <a:prstDash val="solid"/>
          </a:ln>
        </p:spPr>
      </p:sp>
      <p:sp>
        <p:nvSpPr>
          <p:cNvPr id="8" name="Text 6"/>
          <p:cNvSpPr/>
          <p:nvPr/>
        </p:nvSpPr>
        <p:spPr>
          <a:xfrm>
            <a:off x="685800" y="1490472"/>
            <a:ext cx="3703320" cy="365760"/>
          </a:xfrm>
          <a:prstGeom prst="rect">
            <a:avLst/>
          </a:prstGeom>
          <a:noFill/>
          <a:ln/>
        </p:spPr>
        <p:txBody>
          <a:bodyPr wrap="square" lIns="0" tIns="0" rIns="0" bIns="0" rtlCol="0" anchor="ctr"/>
          <a:lstStyle/>
          <a:p>
            <a:pPr indent="0" marL="0">
              <a:buNone/>
            </a:pPr>
            <a:r>
              <a:rPr lang="en-US" sz="1700" b="1" dirty="0">
                <a:solidFill>
                  <a:srgbClr val="14532D"/>
                </a:solidFill>
                <a:latin typeface="Calibri" pitchFamily="34" charset="0"/>
                <a:ea typeface="Calibri" pitchFamily="34" charset="-122"/>
                <a:cs typeface="Calibri" pitchFamily="34" charset="-120"/>
              </a:rPr>
              <a:t>Category image cards</a:t>
            </a:r>
            <a:endParaRPr lang="en-US" sz="1700" dirty="0"/>
          </a:p>
        </p:txBody>
      </p:sp>
      <p:sp>
        <p:nvSpPr>
          <p:cNvPr id="9" name="Text 7"/>
          <p:cNvSpPr/>
          <p:nvPr/>
        </p:nvSpPr>
        <p:spPr>
          <a:xfrm>
            <a:off x="685800" y="1874520"/>
            <a:ext cx="3657600" cy="192024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rgbClr val="1F2937"/>
                </a:solidFill>
                <a:latin typeface="Calibri" pitchFamily="34" charset="0"/>
                <a:ea typeface="Calibri" pitchFamily="34" charset="-122"/>
                <a:cs typeface="Calibri" pitchFamily="34" charset="-120"/>
              </a:rPr>
              <a:t>Categories shown as large photo tiles with the name on top</a:t>
            </a:r>
            <a:endParaRPr lang="en-US" sz="1400" dirty="0"/>
          </a:p>
          <a:p>
            <a:pPr marL="177800" indent="-177800">
              <a:spcAft>
                <a:spcPts val="400"/>
              </a:spcAft>
              <a:buSzPct val="100000"/>
              <a:buChar char="•"/>
            </a:pPr>
            <a:r>
              <a:rPr lang="en-US" sz="1400" dirty="0">
                <a:solidFill>
                  <a:srgbClr val="1F2937"/>
                </a:solidFill>
                <a:latin typeface="Calibri" pitchFamily="34" charset="0"/>
                <a:ea typeface="Calibri" pitchFamily="34" charset="-122"/>
                <a:cs typeface="Calibri" pitchFamily="34" charset="-120"/>
              </a:rPr>
              <a:t>Placeholder initial when a category has no image</a:t>
            </a:r>
            <a:endParaRPr lang="en-US" sz="1400" dirty="0"/>
          </a:p>
          <a:p>
            <a:pPr marL="177800" indent="-177800">
              <a:spcAft>
                <a:spcPts val="400"/>
              </a:spcAft>
              <a:buSzPct val="100000"/>
              <a:buChar char="•"/>
            </a:pPr>
            <a:r>
              <a:rPr lang="en-US" sz="1400" dirty="0">
                <a:solidFill>
                  <a:srgbClr val="1F2937"/>
                </a:solidFill>
                <a:latin typeface="Calibri" pitchFamily="34" charset="0"/>
                <a:ea typeface="Calibri" pitchFamily="34" charset="-122"/>
                <a:cs typeface="Calibri" pitchFamily="34" charset="-120"/>
              </a:rPr>
              <a:t>Photos load lazily and zoom gently on hover</a:t>
            </a:r>
            <a:endParaRPr lang="en-US" sz="1400" dirty="0"/>
          </a:p>
        </p:txBody>
      </p:sp>
      <p:sp>
        <p:nvSpPr>
          <p:cNvPr id="10" name="Shape 8"/>
          <p:cNvSpPr/>
          <p:nvPr/>
        </p:nvSpPr>
        <p:spPr>
          <a:xfrm>
            <a:off x="4663440" y="1417320"/>
            <a:ext cx="3977640" cy="2468880"/>
          </a:xfrm>
          <a:prstGeom prst="roundRect">
            <a:avLst>
              <a:gd name="adj" fmla="val 2963"/>
            </a:avLst>
          </a:prstGeom>
          <a:solidFill>
            <a:srgbClr val="F0FDF4"/>
          </a:solidFill>
          <a:ln w="12700">
            <a:solidFill>
              <a:srgbClr val="DCFCE7"/>
            </a:solidFill>
            <a:prstDash val="solid"/>
          </a:ln>
        </p:spPr>
      </p:sp>
      <p:sp>
        <p:nvSpPr>
          <p:cNvPr id="11" name="Shape 9"/>
          <p:cNvSpPr/>
          <p:nvPr/>
        </p:nvSpPr>
        <p:spPr>
          <a:xfrm>
            <a:off x="4663440" y="1527048"/>
            <a:ext cx="64008" cy="2249424"/>
          </a:xfrm>
          <a:prstGeom prst="rect">
            <a:avLst/>
          </a:prstGeom>
          <a:solidFill>
            <a:srgbClr val="15803D"/>
          </a:solidFill>
          <a:ln w="12700">
            <a:solidFill>
              <a:srgbClr val="15803D"/>
            </a:solidFill>
            <a:prstDash val="solid"/>
          </a:ln>
        </p:spPr>
      </p:sp>
      <p:sp>
        <p:nvSpPr>
          <p:cNvPr id="12" name="Text 10"/>
          <p:cNvSpPr/>
          <p:nvPr/>
        </p:nvSpPr>
        <p:spPr>
          <a:xfrm>
            <a:off x="4846320" y="1490472"/>
            <a:ext cx="3703320" cy="365760"/>
          </a:xfrm>
          <a:prstGeom prst="rect">
            <a:avLst/>
          </a:prstGeom>
          <a:noFill/>
          <a:ln/>
        </p:spPr>
        <p:txBody>
          <a:bodyPr wrap="square" lIns="0" tIns="0" rIns="0" bIns="0" rtlCol="0" anchor="ctr"/>
          <a:lstStyle/>
          <a:p>
            <a:pPr indent="0" marL="0">
              <a:buNone/>
            </a:pPr>
            <a:r>
              <a:rPr lang="en-US" sz="1700" b="1" dirty="0">
                <a:solidFill>
                  <a:srgbClr val="14532D"/>
                </a:solidFill>
                <a:latin typeface="Calibri" pitchFamily="34" charset="0"/>
                <a:ea typeface="Calibri" pitchFamily="34" charset="-122"/>
                <a:cs typeface="Calibri" pitchFamily="34" charset="-120"/>
              </a:rPr>
              <a:t>Hero slider</a:t>
            </a:r>
            <a:endParaRPr lang="en-US" sz="1700" dirty="0"/>
          </a:p>
        </p:txBody>
      </p:sp>
      <p:sp>
        <p:nvSpPr>
          <p:cNvPr id="13" name="Text 11"/>
          <p:cNvSpPr/>
          <p:nvPr/>
        </p:nvSpPr>
        <p:spPr>
          <a:xfrm>
            <a:off x="4846320" y="1874520"/>
            <a:ext cx="3657600" cy="192024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rgbClr val="1F2937"/>
                </a:solidFill>
                <a:latin typeface="Calibri" pitchFamily="34" charset="0"/>
                <a:ea typeface="Calibri" pitchFamily="34" charset="-122"/>
                <a:cs typeface="Calibri" pitchFamily="34" charset="-120"/>
              </a:rPr>
              <a:t>Every live banner becomes a slide, not just the first</a:t>
            </a:r>
            <a:endParaRPr lang="en-US" sz="1400" dirty="0"/>
          </a:p>
          <a:p>
            <a:pPr marL="177800" indent="-177800">
              <a:spcAft>
                <a:spcPts val="400"/>
              </a:spcAft>
              <a:buSzPct val="100000"/>
              <a:buChar char="•"/>
            </a:pPr>
            <a:r>
              <a:rPr lang="en-US" sz="1400" dirty="0">
                <a:solidFill>
                  <a:srgbClr val="1F2937"/>
                </a:solidFill>
                <a:latin typeface="Calibri" pitchFamily="34" charset="0"/>
                <a:ea typeface="Calibri" pitchFamily="34" charset="-122"/>
                <a:cs typeface="Calibri" pitchFamily="34" charset="-120"/>
              </a:rPr>
              <a:t>Auto-advances every 6 seconds, with dots to jump</a:t>
            </a:r>
            <a:endParaRPr lang="en-US" sz="1400" dirty="0"/>
          </a:p>
          <a:p>
            <a:pPr marL="177800" indent="-177800">
              <a:spcAft>
                <a:spcPts val="400"/>
              </a:spcAft>
              <a:buSzPct val="100000"/>
              <a:buChar char="•"/>
            </a:pPr>
            <a:r>
              <a:rPr lang="en-US" sz="1400" dirty="0">
                <a:solidFill>
                  <a:srgbClr val="1F2937"/>
                </a:solidFill>
                <a:latin typeface="Calibri" pitchFamily="34" charset="0"/>
                <a:ea typeface="Calibri" pitchFamily="34" charset="-122"/>
                <a:cs typeface="Calibri" pitchFamily="34" charset="-120"/>
              </a:rPr>
              <a:t>Hover fades the dark overlay so the photo shows</a:t>
            </a:r>
            <a:endParaRPr lang="en-US" sz="1400" dirty="0"/>
          </a:p>
          <a:p>
            <a:pPr marL="177800" indent="-177800">
              <a:spcAft>
                <a:spcPts val="400"/>
              </a:spcAft>
              <a:buSzPct val="100000"/>
              <a:buChar char="•"/>
            </a:pPr>
            <a:r>
              <a:rPr lang="en-US" sz="1400" dirty="0">
                <a:solidFill>
                  <a:srgbClr val="1F2937"/>
                </a:solidFill>
                <a:latin typeface="Calibri" pitchFamily="34" charset="0"/>
                <a:ea typeface="Calibri" pitchFamily="34" charset="-122"/>
                <a:cs typeface="Calibri" pitchFamily="34" charset="-120"/>
              </a:rPr>
              <a:t>Text stays readable; reduced-motion respected</a:t>
            </a:r>
            <a:endParaRPr lang="en-US" sz="1400" dirty="0"/>
          </a:p>
        </p:txBody>
      </p:sp>
      <p:sp>
        <p:nvSpPr>
          <p:cNvPr id="14" name="Text 12"/>
          <p:cNvSpPr/>
          <p:nvPr/>
        </p:nvSpPr>
        <p:spPr>
          <a:xfrm>
            <a:off x="502920" y="4114800"/>
            <a:ext cx="8138160" cy="457200"/>
          </a:xfrm>
          <a:prstGeom prst="rect">
            <a:avLst/>
          </a:prstGeom>
          <a:noFill/>
          <a:ln/>
        </p:spPr>
        <p:txBody>
          <a:bodyPr wrap="square" lIns="0" tIns="0" rIns="0" bIns="0" rtlCol="0" anchor="ctr"/>
          <a:lstStyle/>
          <a:p>
            <a:pPr indent="0" marL="0">
              <a:buNone/>
            </a:pPr>
            <a:r>
              <a:rPr lang="en-US" sz="1400" dirty="0">
                <a:solidFill>
                  <a:srgbClr val="4B5563"/>
                </a:solidFill>
                <a:latin typeface="Calibri" pitchFamily="34" charset="0"/>
                <a:ea typeface="Calibri" pitchFamily="34" charset="-122"/>
                <a:cs typeface="Calibri" pitchFamily="34" charset="-120"/>
              </a:rPr>
              <a:t>Banners are managed in Admin &gt; Marketing &gt; Banners. A feature test for the hero is included.</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5803D"/>
          </a:solidFill>
          <a:ln w="12700">
            <a:solidFill>
              <a:srgbClr val="15803D"/>
            </a:solidFill>
            <a:prstDash val="solid"/>
          </a:ln>
        </p:spPr>
      </p:sp>
      <p:sp>
        <p:nvSpPr>
          <p:cNvPr id="3" name="Text 1"/>
          <p:cNvSpPr/>
          <p:nvPr/>
        </p:nvSpPr>
        <p:spPr>
          <a:xfrm>
            <a:off x="502920" y="274320"/>
            <a:ext cx="8138160" cy="640080"/>
          </a:xfrm>
          <a:prstGeom prst="rect">
            <a:avLst/>
          </a:prstGeom>
          <a:noFill/>
          <a:ln/>
        </p:spPr>
        <p:txBody>
          <a:bodyPr wrap="square" lIns="0" tIns="0" rIns="0" bIns="0" rtlCol="0" anchor="ctr"/>
          <a:lstStyle/>
          <a:p>
            <a:pPr indent="0" marL="0">
              <a:buNone/>
            </a:pPr>
            <a:r>
              <a:rPr lang="en-US" sz="3200" b="1" dirty="0">
                <a:solidFill>
                  <a:srgbClr val="052312"/>
                </a:solidFill>
                <a:latin typeface="Calibri" pitchFamily="34" charset="0"/>
                <a:ea typeface="Calibri" pitchFamily="34" charset="-122"/>
                <a:cs typeface="Calibri" pitchFamily="34" charset="-120"/>
              </a:rPr>
              <a:t>Audit findings: key risks</a:t>
            </a:r>
            <a:endParaRPr lang="en-US" sz="3200" dirty="0"/>
          </a:p>
        </p:txBody>
      </p:sp>
      <p:sp>
        <p:nvSpPr>
          <p:cNvPr id="4" name="Text 2"/>
          <p:cNvSpPr/>
          <p:nvPr/>
        </p:nvSpPr>
        <p:spPr>
          <a:xfrm>
            <a:off x="502920" y="896112"/>
            <a:ext cx="8138160" cy="365760"/>
          </a:xfrm>
          <a:prstGeom prst="rect">
            <a:avLst/>
          </a:prstGeom>
          <a:noFill/>
          <a:ln/>
        </p:spPr>
        <p:txBody>
          <a:bodyPr wrap="square" lIns="0" tIns="0" rIns="0" bIns="0" rtlCol="0" anchor="ctr"/>
          <a:lstStyle/>
          <a:p>
            <a:pPr indent="0" marL="0">
              <a:buNone/>
            </a:pPr>
            <a:r>
              <a:rPr lang="en-US" sz="1600" dirty="0">
                <a:solidFill>
                  <a:srgbClr val="4B5563"/>
                </a:solidFill>
                <a:latin typeface="Calibri" pitchFamily="34" charset="0"/>
                <a:ea typeface="Calibri" pitchFamily="34" charset="-122"/>
                <a:cs typeface="Calibri" pitchFamily="34" charset="-120"/>
              </a:rPr>
              <a:t>Fix before real customer traffic. No secrets shown here.</a:t>
            </a:r>
            <a:endParaRPr lang="en-US" sz="1600" dirty="0"/>
          </a:p>
        </p:txBody>
      </p:sp>
      <p:sp>
        <p:nvSpPr>
          <p:cNvPr id="5" name="Text 3"/>
          <p:cNvSpPr/>
          <p:nvPr/>
        </p:nvSpPr>
        <p:spPr>
          <a:xfrm>
            <a:off x="502920" y="4800600"/>
            <a:ext cx="8138160" cy="22860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CY-Market  |  System overview  |  8</a:t>
            </a:r>
            <a:endParaRPr lang="en-US" sz="1000" dirty="0"/>
          </a:p>
        </p:txBody>
      </p:sp>
      <p:sp>
        <p:nvSpPr>
          <p:cNvPr id="6" name="Shape 4"/>
          <p:cNvSpPr/>
          <p:nvPr/>
        </p:nvSpPr>
        <p:spPr>
          <a:xfrm>
            <a:off x="502920" y="1371600"/>
            <a:ext cx="8138160" cy="585216"/>
          </a:xfrm>
          <a:prstGeom prst="roundRect">
            <a:avLst>
              <a:gd name="adj" fmla="val 9375"/>
            </a:avLst>
          </a:prstGeom>
          <a:solidFill>
            <a:srgbClr val="FEF2F2"/>
          </a:solidFill>
          <a:ln w="12700">
            <a:solidFill>
              <a:srgbClr val="FECACA"/>
            </a:solidFill>
            <a:prstDash val="solid"/>
          </a:ln>
        </p:spPr>
      </p:sp>
      <p:sp>
        <p:nvSpPr>
          <p:cNvPr id="7" name="Shape 5"/>
          <p:cNvSpPr/>
          <p:nvPr/>
        </p:nvSpPr>
        <p:spPr>
          <a:xfrm>
            <a:off x="594360" y="1499616"/>
            <a:ext cx="868680" cy="329184"/>
          </a:xfrm>
          <a:prstGeom prst="roundRect">
            <a:avLst>
              <a:gd name="adj" fmla="val 16667"/>
            </a:avLst>
          </a:prstGeom>
          <a:solidFill>
            <a:srgbClr val="B91C1C"/>
          </a:solidFill>
          <a:ln w="12700">
            <a:solidFill>
              <a:srgbClr val="B91C1C"/>
            </a:solidFill>
            <a:prstDash val="solid"/>
          </a:ln>
        </p:spPr>
      </p:sp>
      <p:sp>
        <p:nvSpPr>
          <p:cNvPr id="8" name="Text 6"/>
          <p:cNvSpPr/>
          <p:nvPr/>
        </p:nvSpPr>
        <p:spPr>
          <a:xfrm>
            <a:off x="594360" y="1499616"/>
            <a:ext cx="86868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Critical</a:t>
            </a:r>
            <a:endParaRPr lang="en-US" sz="1200" dirty="0"/>
          </a:p>
        </p:txBody>
      </p:sp>
      <p:sp>
        <p:nvSpPr>
          <p:cNvPr id="9" name="Text 7"/>
          <p:cNvSpPr/>
          <p:nvPr/>
        </p:nvSpPr>
        <p:spPr>
          <a:xfrm>
            <a:off x="1554480" y="1371600"/>
            <a:ext cx="1737360" cy="585216"/>
          </a:xfrm>
          <a:prstGeom prst="rect">
            <a:avLst/>
          </a:prstGeom>
          <a:noFill/>
          <a:ln/>
        </p:spPr>
        <p:txBody>
          <a:bodyPr wrap="square" lIns="0" tIns="0" rIns="0" bIns="0" rtlCol="0" anchor="ctr"/>
          <a:lstStyle/>
          <a:p>
            <a:pPr indent="0" marL="0">
              <a:buNone/>
            </a:pPr>
            <a:r>
              <a:rPr lang="en-US" sz="1400" b="1" dirty="0">
                <a:solidFill>
                  <a:srgbClr val="052312"/>
                </a:solidFill>
                <a:latin typeface="Calibri" pitchFamily="34" charset="0"/>
                <a:ea typeface="Calibri" pitchFamily="34" charset="-122"/>
                <a:cs typeface="Calibri" pitchFamily="34" charset="-120"/>
              </a:rPr>
              <a:t>Free goods</a:t>
            </a:r>
            <a:endParaRPr lang="en-US" sz="1400" dirty="0"/>
          </a:p>
        </p:txBody>
      </p:sp>
      <p:sp>
        <p:nvSpPr>
          <p:cNvPr id="10" name="Text 8"/>
          <p:cNvSpPr/>
          <p:nvPr/>
        </p:nvSpPr>
        <p:spPr>
          <a:xfrm>
            <a:off x="3291840" y="1371600"/>
            <a:ext cx="5303520" cy="585216"/>
          </a:xfrm>
          <a:prstGeom prst="rect">
            <a:avLst/>
          </a:prstGeom>
          <a:noFill/>
          <a:ln/>
        </p:spPr>
        <p:txBody>
          <a:bodyPr wrap="square" lIns="0" tIns="0" rIns="0" bIns="0" rtlCol="0" anchor="ctr"/>
          <a:lstStyle/>
          <a:p>
            <a:pPr indent="0" marL="0">
              <a:buNone/>
            </a:pPr>
            <a:r>
              <a:rPr lang="en-US" sz="1150" dirty="0">
                <a:solidFill>
                  <a:srgbClr val="1F2937"/>
                </a:solidFill>
                <a:latin typeface="Calibri" pitchFamily="34" charset="0"/>
                <a:ea typeface="Calibri" pitchFamily="34" charset="-122"/>
                <a:cs typeface="Calibri" pitchFamily="34" charset="-120"/>
              </a:rPr>
              <a:t>Anyone can mark a transfer payment as paid through the webhook or the test-payment route. Default setting is "simulate".</a:t>
            </a:r>
            <a:endParaRPr lang="en-US" sz="1150" dirty="0"/>
          </a:p>
        </p:txBody>
      </p:sp>
      <p:sp>
        <p:nvSpPr>
          <p:cNvPr id="11" name="Shape 9"/>
          <p:cNvSpPr/>
          <p:nvPr/>
        </p:nvSpPr>
        <p:spPr>
          <a:xfrm>
            <a:off x="502920" y="2029968"/>
            <a:ext cx="8138160" cy="585216"/>
          </a:xfrm>
          <a:prstGeom prst="roundRect">
            <a:avLst>
              <a:gd name="adj" fmla="val 9375"/>
            </a:avLst>
          </a:prstGeom>
          <a:solidFill>
            <a:srgbClr val="FEF2F2"/>
          </a:solidFill>
          <a:ln w="12700">
            <a:solidFill>
              <a:srgbClr val="FECACA"/>
            </a:solidFill>
            <a:prstDash val="solid"/>
          </a:ln>
        </p:spPr>
      </p:sp>
      <p:sp>
        <p:nvSpPr>
          <p:cNvPr id="12" name="Shape 10"/>
          <p:cNvSpPr/>
          <p:nvPr/>
        </p:nvSpPr>
        <p:spPr>
          <a:xfrm>
            <a:off x="594360" y="2157984"/>
            <a:ext cx="868680" cy="329184"/>
          </a:xfrm>
          <a:prstGeom prst="roundRect">
            <a:avLst>
              <a:gd name="adj" fmla="val 16667"/>
            </a:avLst>
          </a:prstGeom>
          <a:solidFill>
            <a:srgbClr val="B91C1C"/>
          </a:solidFill>
          <a:ln w="12700">
            <a:solidFill>
              <a:srgbClr val="B91C1C"/>
            </a:solidFill>
            <a:prstDash val="solid"/>
          </a:ln>
        </p:spPr>
      </p:sp>
      <p:sp>
        <p:nvSpPr>
          <p:cNvPr id="13" name="Text 11"/>
          <p:cNvSpPr/>
          <p:nvPr/>
        </p:nvSpPr>
        <p:spPr>
          <a:xfrm>
            <a:off x="594360" y="2157984"/>
            <a:ext cx="86868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Critical</a:t>
            </a:r>
            <a:endParaRPr lang="en-US" sz="1200" dirty="0"/>
          </a:p>
        </p:txBody>
      </p:sp>
      <p:sp>
        <p:nvSpPr>
          <p:cNvPr id="14" name="Text 12"/>
          <p:cNvSpPr/>
          <p:nvPr/>
        </p:nvSpPr>
        <p:spPr>
          <a:xfrm>
            <a:off x="1554480" y="2029968"/>
            <a:ext cx="1737360" cy="585216"/>
          </a:xfrm>
          <a:prstGeom prst="rect">
            <a:avLst/>
          </a:prstGeom>
          <a:noFill/>
          <a:ln/>
        </p:spPr>
        <p:txBody>
          <a:bodyPr wrap="square" lIns="0" tIns="0" rIns="0" bIns="0" rtlCol="0" anchor="ctr"/>
          <a:lstStyle/>
          <a:p>
            <a:pPr indent="0" marL="0">
              <a:buNone/>
            </a:pPr>
            <a:r>
              <a:rPr lang="en-US" sz="1400" b="1" dirty="0">
                <a:solidFill>
                  <a:srgbClr val="052312"/>
                </a:solidFill>
                <a:latin typeface="Calibri" pitchFamily="34" charset="0"/>
                <a:ea typeface="Calibri" pitchFamily="34" charset="-122"/>
                <a:cs typeface="Calibri" pitchFamily="34" charset="-120"/>
              </a:rPr>
              <a:t>Cancelled order revived</a:t>
            </a:r>
            <a:endParaRPr lang="en-US" sz="1400" dirty="0"/>
          </a:p>
        </p:txBody>
      </p:sp>
      <p:sp>
        <p:nvSpPr>
          <p:cNvPr id="15" name="Text 13"/>
          <p:cNvSpPr/>
          <p:nvPr/>
        </p:nvSpPr>
        <p:spPr>
          <a:xfrm>
            <a:off x="3291840" y="2029968"/>
            <a:ext cx="5303520" cy="585216"/>
          </a:xfrm>
          <a:prstGeom prst="rect">
            <a:avLst/>
          </a:prstGeom>
          <a:noFill/>
          <a:ln/>
        </p:spPr>
        <p:txBody>
          <a:bodyPr wrap="square" lIns="0" tIns="0" rIns="0" bIns="0" rtlCol="0" anchor="ctr"/>
          <a:lstStyle/>
          <a:p>
            <a:pPr indent="0" marL="0">
              <a:buNone/>
            </a:pPr>
            <a:r>
              <a:rPr lang="en-US" sz="1150" dirty="0">
                <a:solidFill>
                  <a:srgbClr val="1F2937"/>
                </a:solidFill>
                <a:latin typeface="Calibri" pitchFamily="34" charset="0"/>
                <a:ea typeface="Calibri" pitchFamily="34" charset="-122"/>
                <a:cs typeface="Calibri" pitchFamily="34" charset="-120"/>
              </a:rPr>
              <a:t>Late payment confirmation on a cancelled order marks it paid and deducts stock.</a:t>
            </a:r>
            <a:endParaRPr lang="en-US" sz="1150" dirty="0"/>
          </a:p>
        </p:txBody>
      </p:sp>
      <p:sp>
        <p:nvSpPr>
          <p:cNvPr id="16" name="Shape 14"/>
          <p:cNvSpPr/>
          <p:nvPr/>
        </p:nvSpPr>
        <p:spPr>
          <a:xfrm>
            <a:off x="502920" y="2688336"/>
            <a:ext cx="8138160" cy="585216"/>
          </a:xfrm>
          <a:prstGeom prst="roundRect">
            <a:avLst>
              <a:gd name="adj" fmla="val 9375"/>
            </a:avLst>
          </a:prstGeom>
          <a:solidFill>
            <a:srgbClr val="FEF2F2"/>
          </a:solidFill>
          <a:ln w="12700">
            <a:solidFill>
              <a:srgbClr val="FECACA"/>
            </a:solidFill>
            <a:prstDash val="solid"/>
          </a:ln>
        </p:spPr>
      </p:sp>
      <p:sp>
        <p:nvSpPr>
          <p:cNvPr id="17" name="Shape 15"/>
          <p:cNvSpPr/>
          <p:nvPr/>
        </p:nvSpPr>
        <p:spPr>
          <a:xfrm>
            <a:off x="594360" y="2816352"/>
            <a:ext cx="868680" cy="329184"/>
          </a:xfrm>
          <a:prstGeom prst="roundRect">
            <a:avLst>
              <a:gd name="adj" fmla="val 16667"/>
            </a:avLst>
          </a:prstGeom>
          <a:solidFill>
            <a:srgbClr val="B91C1C"/>
          </a:solidFill>
          <a:ln w="12700">
            <a:solidFill>
              <a:srgbClr val="B91C1C"/>
            </a:solidFill>
            <a:prstDash val="solid"/>
          </a:ln>
        </p:spPr>
      </p:sp>
      <p:sp>
        <p:nvSpPr>
          <p:cNvPr id="18" name="Text 16"/>
          <p:cNvSpPr/>
          <p:nvPr/>
        </p:nvSpPr>
        <p:spPr>
          <a:xfrm>
            <a:off x="594360" y="2816352"/>
            <a:ext cx="86868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Critical</a:t>
            </a:r>
            <a:endParaRPr lang="en-US" sz="1200" dirty="0"/>
          </a:p>
        </p:txBody>
      </p:sp>
      <p:sp>
        <p:nvSpPr>
          <p:cNvPr id="19" name="Text 17"/>
          <p:cNvSpPr/>
          <p:nvPr/>
        </p:nvSpPr>
        <p:spPr>
          <a:xfrm>
            <a:off x="1554480" y="2688336"/>
            <a:ext cx="1737360" cy="585216"/>
          </a:xfrm>
          <a:prstGeom prst="rect">
            <a:avLst/>
          </a:prstGeom>
          <a:noFill/>
          <a:ln/>
        </p:spPr>
        <p:txBody>
          <a:bodyPr wrap="square" lIns="0" tIns="0" rIns="0" bIns="0" rtlCol="0" anchor="ctr"/>
          <a:lstStyle/>
          <a:p>
            <a:pPr indent="0" marL="0">
              <a:buNone/>
            </a:pPr>
            <a:r>
              <a:rPr lang="en-US" sz="1400" b="1" dirty="0">
                <a:solidFill>
                  <a:srgbClr val="052312"/>
                </a:solidFill>
                <a:latin typeface="Calibri" pitchFamily="34" charset="0"/>
                <a:ea typeface="Calibri" pitchFamily="34" charset="-122"/>
                <a:cs typeface="Calibri" pitchFamily="34" charset="-120"/>
              </a:rPr>
              <a:t>Overselling</a:t>
            </a:r>
            <a:endParaRPr lang="en-US" sz="1400" dirty="0"/>
          </a:p>
        </p:txBody>
      </p:sp>
      <p:sp>
        <p:nvSpPr>
          <p:cNvPr id="20" name="Text 18"/>
          <p:cNvSpPr/>
          <p:nvPr/>
        </p:nvSpPr>
        <p:spPr>
          <a:xfrm>
            <a:off x="3291840" y="2688336"/>
            <a:ext cx="5303520" cy="585216"/>
          </a:xfrm>
          <a:prstGeom prst="rect">
            <a:avLst/>
          </a:prstGeom>
          <a:noFill/>
          <a:ln/>
        </p:spPr>
        <p:txBody>
          <a:bodyPr wrap="square" lIns="0" tIns="0" rIns="0" bIns="0" rtlCol="0" anchor="ctr"/>
          <a:lstStyle/>
          <a:p>
            <a:pPr indent="0" marL="0">
              <a:buNone/>
            </a:pPr>
            <a:r>
              <a:rPr lang="en-US" sz="1150" dirty="0">
                <a:solidFill>
                  <a:srgbClr val="1F2937"/>
                </a:solidFill>
                <a:latin typeface="Calibri" pitchFamily="34" charset="0"/>
                <a:ea typeface="Calibri" pitchFamily="34" charset="-122"/>
                <a:cs typeface="Calibri" pitchFamily="34" charset="-120"/>
              </a:rPr>
              <a:t>Checkout does not check stock under a lock; two buyers can reserve the same last items.</a:t>
            </a:r>
            <a:endParaRPr lang="en-US" sz="1150" dirty="0"/>
          </a:p>
        </p:txBody>
      </p:sp>
      <p:sp>
        <p:nvSpPr>
          <p:cNvPr id="21" name="Shape 19"/>
          <p:cNvSpPr/>
          <p:nvPr/>
        </p:nvSpPr>
        <p:spPr>
          <a:xfrm>
            <a:off x="502920" y="3346704"/>
            <a:ext cx="8138160" cy="585216"/>
          </a:xfrm>
          <a:prstGeom prst="roundRect">
            <a:avLst>
              <a:gd name="adj" fmla="val 9375"/>
            </a:avLst>
          </a:prstGeom>
          <a:solidFill>
            <a:srgbClr val="FEF2F2"/>
          </a:solidFill>
          <a:ln w="12700">
            <a:solidFill>
              <a:srgbClr val="FECACA"/>
            </a:solidFill>
            <a:prstDash val="solid"/>
          </a:ln>
        </p:spPr>
      </p:sp>
      <p:sp>
        <p:nvSpPr>
          <p:cNvPr id="22" name="Shape 20"/>
          <p:cNvSpPr/>
          <p:nvPr/>
        </p:nvSpPr>
        <p:spPr>
          <a:xfrm>
            <a:off x="594360" y="3474720"/>
            <a:ext cx="868680" cy="329184"/>
          </a:xfrm>
          <a:prstGeom prst="roundRect">
            <a:avLst>
              <a:gd name="adj" fmla="val 16667"/>
            </a:avLst>
          </a:prstGeom>
          <a:solidFill>
            <a:srgbClr val="B91C1C"/>
          </a:solidFill>
          <a:ln w="12700">
            <a:solidFill>
              <a:srgbClr val="B91C1C"/>
            </a:solidFill>
            <a:prstDash val="solid"/>
          </a:ln>
        </p:spPr>
      </p:sp>
      <p:sp>
        <p:nvSpPr>
          <p:cNvPr id="23" name="Text 21"/>
          <p:cNvSpPr/>
          <p:nvPr/>
        </p:nvSpPr>
        <p:spPr>
          <a:xfrm>
            <a:off x="594360" y="3474720"/>
            <a:ext cx="86868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Critical</a:t>
            </a:r>
            <a:endParaRPr lang="en-US" sz="1200" dirty="0"/>
          </a:p>
        </p:txBody>
      </p:sp>
      <p:sp>
        <p:nvSpPr>
          <p:cNvPr id="24" name="Text 22"/>
          <p:cNvSpPr/>
          <p:nvPr/>
        </p:nvSpPr>
        <p:spPr>
          <a:xfrm>
            <a:off x="1554480" y="3346704"/>
            <a:ext cx="1737360" cy="585216"/>
          </a:xfrm>
          <a:prstGeom prst="rect">
            <a:avLst/>
          </a:prstGeom>
          <a:noFill/>
          <a:ln/>
        </p:spPr>
        <p:txBody>
          <a:bodyPr wrap="square" lIns="0" tIns="0" rIns="0" bIns="0" rtlCol="0" anchor="ctr"/>
          <a:lstStyle/>
          <a:p>
            <a:pPr indent="0" marL="0">
              <a:buNone/>
            </a:pPr>
            <a:r>
              <a:rPr lang="en-US" sz="1400" b="1" dirty="0">
                <a:solidFill>
                  <a:srgbClr val="052312"/>
                </a:solidFill>
                <a:latin typeface="Calibri" pitchFamily="34" charset="0"/>
                <a:ea typeface="Calibri" pitchFamily="34" charset="-122"/>
                <a:cs typeface="Calibri" pitchFamily="34" charset="-120"/>
              </a:rPr>
              <a:t>Admin privilege gaps</a:t>
            </a:r>
            <a:endParaRPr lang="en-US" sz="1400" dirty="0"/>
          </a:p>
        </p:txBody>
      </p:sp>
      <p:sp>
        <p:nvSpPr>
          <p:cNvPr id="25" name="Text 23"/>
          <p:cNvSpPr/>
          <p:nvPr/>
        </p:nvSpPr>
        <p:spPr>
          <a:xfrm>
            <a:off x="3291840" y="3346704"/>
            <a:ext cx="5303520" cy="585216"/>
          </a:xfrm>
          <a:prstGeom prst="rect">
            <a:avLst/>
          </a:prstGeom>
          <a:noFill/>
          <a:ln/>
        </p:spPr>
        <p:txBody>
          <a:bodyPr wrap="square" lIns="0" tIns="0" rIns="0" bIns="0" rtlCol="0" anchor="ctr"/>
          <a:lstStyle/>
          <a:p>
            <a:pPr indent="0" marL="0">
              <a:buNone/>
            </a:pPr>
            <a:r>
              <a:rPr lang="en-US" sz="1150" dirty="0">
                <a:solidFill>
                  <a:srgbClr val="1F2937"/>
                </a:solidFill>
                <a:latin typeface="Calibri" pitchFamily="34" charset="0"/>
                <a:ea typeface="Calibri" pitchFamily="34" charset="-122"/>
                <a:cs typeface="Calibri" pitchFamily="34" charset="-120"/>
              </a:rPr>
              <a:t>Any staff role can create or edit users, including Super Admin, and change delivery fees or banners.</a:t>
            </a:r>
            <a:endParaRPr lang="en-US" sz="1150" dirty="0"/>
          </a:p>
        </p:txBody>
      </p:sp>
      <p:sp>
        <p:nvSpPr>
          <p:cNvPr id="26" name="Shape 24"/>
          <p:cNvSpPr/>
          <p:nvPr/>
        </p:nvSpPr>
        <p:spPr>
          <a:xfrm>
            <a:off x="502920" y="4005072"/>
            <a:ext cx="8138160" cy="585216"/>
          </a:xfrm>
          <a:prstGeom prst="roundRect">
            <a:avLst>
              <a:gd name="adj" fmla="val 9375"/>
            </a:avLst>
          </a:prstGeom>
          <a:solidFill>
            <a:srgbClr val="FEF2F2"/>
          </a:solidFill>
          <a:ln w="12700">
            <a:solidFill>
              <a:srgbClr val="FECACA"/>
            </a:solidFill>
            <a:prstDash val="solid"/>
          </a:ln>
        </p:spPr>
      </p:sp>
      <p:sp>
        <p:nvSpPr>
          <p:cNvPr id="27" name="Shape 25"/>
          <p:cNvSpPr/>
          <p:nvPr/>
        </p:nvSpPr>
        <p:spPr>
          <a:xfrm>
            <a:off x="594360" y="4133088"/>
            <a:ext cx="868680" cy="329184"/>
          </a:xfrm>
          <a:prstGeom prst="roundRect">
            <a:avLst>
              <a:gd name="adj" fmla="val 16667"/>
            </a:avLst>
          </a:prstGeom>
          <a:solidFill>
            <a:srgbClr val="B45309"/>
          </a:solidFill>
          <a:ln w="12700">
            <a:solidFill>
              <a:srgbClr val="B45309"/>
            </a:solidFill>
            <a:prstDash val="solid"/>
          </a:ln>
        </p:spPr>
      </p:sp>
      <p:sp>
        <p:nvSpPr>
          <p:cNvPr id="28" name="Text 26"/>
          <p:cNvSpPr/>
          <p:nvPr/>
        </p:nvSpPr>
        <p:spPr>
          <a:xfrm>
            <a:off x="594360" y="4133088"/>
            <a:ext cx="86868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High</a:t>
            </a:r>
            <a:endParaRPr lang="en-US" sz="1200" dirty="0"/>
          </a:p>
        </p:txBody>
      </p:sp>
      <p:sp>
        <p:nvSpPr>
          <p:cNvPr id="29" name="Text 27"/>
          <p:cNvSpPr/>
          <p:nvPr/>
        </p:nvSpPr>
        <p:spPr>
          <a:xfrm>
            <a:off x="1554480" y="4005072"/>
            <a:ext cx="1737360" cy="585216"/>
          </a:xfrm>
          <a:prstGeom prst="rect">
            <a:avLst/>
          </a:prstGeom>
          <a:noFill/>
          <a:ln/>
        </p:spPr>
        <p:txBody>
          <a:bodyPr wrap="square" lIns="0" tIns="0" rIns="0" bIns="0" rtlCol="0" anchor="ctr"/>
          <a:lstStyle/>
          <a:p>
            <a:pPr indent="0" marL="0">
              <a:buNone/>
            </a:pPr>
            <a:r>
              <a:rPr lang="en-US" sz="1400" b="1" dirty="0">
                <a:solidFill>
                  <a:srgbClr val="052312"/>
                </a:solidFill>
                <a:latin typeface="Calibri" pitchFamily="34" charset="0"/>
                <a:ea typeface="Calibri" pitchFamily="34" charset="-122"/>
                <a:cs typeface="Calibri" pitchFamily="34" charset="-120"/>
              </a:rPr>
              <a:t>Exposed key file</a:t>
            </a:r>
            <a:endParaRPr lang="en-US" sz="1400" dirty="0"/>
          </a:p>
        </p:txBody>
      </p:sp>
      <p:sp>
        <p:nvSpPr>
          <p:cNvPr id="30" name="Text 28"/>
          <p:cNvSpPr/>
          <p:nvPr/>
        </p:nvSpPr>
        <p:spPr>
          <a:xfrm>
            <a:off x="3291840" y="4005072"/>
            <a:ext cx="5303520" cy="585216"/>
          </a:xfrm>
          <a:prstGeom prst="rect">
            <a:avLst/>
          </a:prstGeom>
          <a:noFill/>
          <a:ln/>
        </p:spPr>
        <p:txBody>
          <a:bodyPr wrap="square" lIns="0" tIns="0" rIns="0" bIns="0" rtlCol="0" anchor="ctr"/>
          <a:lstStyle/>
          <a:p>
            <a:pPr indent="0" marL="0">
              <a:buNone/>
            </a:pPr>
            <a:r>
              <a:rPr lang="en-US" sz="1150" dirty="0">
                <a:solidFill>
                  <a:srgbClr val="1F2937"/>
                </a:solidFill>
                <a:latin typeface="Calibri" pitchFamily="34" charset="0"/>
                <a:ea typeface="Calibri" pitchFamily="34" charset="-122"/>
                <a:cs typeface="Calibri" pitchFamily="34" charset="-120"/>
              </a:rPr>
              <a:t>api.php holds a payment-provider key in plain text, is not git-ignored, and is copied into the Docker image. Rotate the key.</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5803D"/>
          </a:solidFill>
          <a:ln w="12700">
            <a:solidFill>
              <a:srgbClr val="15803D"/>
            </a:solidFill>
            <a:prstDash val="solid"/>
          </a:ln>
        </p:spPr>
      </p:sp>
      <p:sp>
        <p:nvSpPr>
          <p:cNvPr id="3" name="Text 1"/>
          <p:cNvSpPr/>
          <p:nvPr/>
        </p:nvSpPr>
        <p:spPr>
          <a:xfrm>
            <a:off x="502920" y="274320"/>
            <a:ext cx="8138160" cy="640080"/>
          </a:xfrm>
          <a:prstGeom prst="rect">
            <a:avLst/>
          </a:prstGeom>
          <a:noFill/>
          <a:ln/>
        </p:spPr>
        <p:txBody>
          <a:bodyPr wrap="square" lIns="0" tIns="0" rIns="0" bIns="0" rtlCol="0" anchor="ctr"/>
          <a:lstStyle/>
          <a:p>
            <a:pPr indent="0" marL="0">
              <a:buNone/>
            </a:pPr>
            <a:r>
              <a:rPr lang="en-US" sz="3200" b="1" dirty="0">
                <a:solidFill>
                  <a:srgbClr val="052312"/>
                </a:solidFill>
                <a:latin typeface="Calibri" pitchFamily="34" charset="0"/>
                <a:ea typeface="Calibri" pitchFamily="34" charset="-122"/>
                <a:cs typeface="Calibri" pitchFamily="34" charset="-120"/>
              </a:rPr>
              <a:t>Roadmap: phased fixes</a:t>
            </a:r>
            <a:endParaRPr lang="en-US" sz="3200" dirty="0"/>
          </a:p>
        </p:txBody>
      </p:sp>
      <p:sp>
        <p:nvSpPr>
          <p:cNvPr id="4" name="Text 2"/>
          <p:cNvSpPr/>
          <p:nvPr/>
        </p:nvSpPr>
        <p:spPr>
          <a:xfrm>
            <a:off x="502920" y="896112"/>
            <a:ext cx="8138160" cy="365760"/>
          </a:xfrm>
          <a:prstGeom prst="rect">
            <a:avLst/>
          </a:prstGeom>
          <a:noFill/>
          <a:ln/>
        </p:spPr>
        <p:txBody>
          <a:bodyPr wrap="square" lIns="0" tIns="0" rIns="0" bIns="0" rtlCol="0" anchor="ctr"/>
          <a:lstStyle/>
          <a:p>
            <a:pPr indent="0" marL="0">
              <a:buNone/>
            </a:pPr>
            <a:r>
              <a:rPr lang="en-US" sz="1600" dirty="0">
                <a:solidFill>
                  <a:srgbClr val="4B5563"/>
                </a:solidFill>
                <a:latin typeface="Calibri" pitchFamily="34" charset="0"/>
                <a:ea typeface="Calibri" pitchFamily="34" charset="-122"/>
                <a:cs typeface="Calibri" pitchFamily="34" charset="-120"/>
              </a:rPr>
              <a:t>Phases from the architecture audit, plus security review fixes</a:t>
            </a:r>
            <a:endParaRPr lang="en-US" sz="1600" dirty="0"/>
          </a:p>
        </p:txBody>
      </p:sp>
      <p:sp>
        <p:nvSpPr>
          <p:cNvPr id="5" name="Text 3"/>
          <p:cNvSpPr/>
          <p:nvPr/>
        </p:nvSpPr>
        <p:spPr>
          <a:xfrm>
            <a:off x="502920" y="4800600"/>
            <a:ext cx="8138160" cy="22860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CY-Market  |  System overview  |  9</a:t>
            </a:r>
            <a:endParaRPr lang="en-US" sz="1000" dirty="0"/>
          </a:p>
        </p:txBody>
      </p:sp>
      <p:sp>
        <p:nvSpPr>
          <p:cNvPr id="6" name="Shape 4"/>
          <p:cNvSpPr/>
          <p:nvPr/>
        </p:nvSpPr>
        <p:spPr>
          <a:xfrm>
            <a:off x="502920" y="1371600"/>
            <a:ext cx="1920240" cy="3291840"/>
          </a:xfrm>
          <a:prstGeom prst="roundRect">
            <a:avLst>
              <a:gd name="adj" fmla="val 3810"/>
            </a:avLst>
          </a:prstGeom>
          <a:solidFill>
            <a:srgbClr val="F0FDF4"/>
          </a:solidFill>
          <a:ln w="12700">
            <a:solidFill>
              <a:srgbClr val="DCFCE7"/>
            </a:solidFill>
            <a:prstDash val="solid"/>
          </a:ln>
        </p:spPr>
      </p:sp>
      <p:sp>
        <p:nvSpPr>
          <p:cNvPr id="7" name="Shape 5"/>
          <p:cNvSpPr/>
          <p:nvPr/>
        </p:nvSpPr>
        <p:spPr>
          <a:xfrm>
            <a:off x="502920" y="1371600"/>
            <a:ext cx="1920240" cy="868680"/>
          </a:xfrm>
          <a:prstGeom prst="roundRect">
            <a:avLst>
              <a:gd name="adj" fmla="val 8421"/>
            </a:avLst>
          </a:prstGeom>
          <a:solidFill>
            <a:srgbClr val="B91C1C"/>
          </a:solidFill>
          <a:ln w="12700">
            <a:solidFill>
              <a:srgbClr val="B91C1C"/>
            </a:solidFill>
            <a:prstDash val="solid"/>
          </a:ln>
        </p:spPr>
      </p:sp>
      <p:sp>
        <p:nvSpPr>
          <p:cNvPr id="8" name="Text 6"/>
          <p:cNvSpPr/>
          <p:nvPr/>
        </p:nvSpPr>
        <p:spPr>
          <a:xfrm>
            <a:off x="594360" y="1389888"/>
            <a:ext cx="1737360" cy="32004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Phase A</a:t>
            </a:r>
            <a:endParaRPr lang="en-US" sz="1600" dirty="0"/>
          </a:p>
        </p:txBody>
      </p:sp>
      <p:sp>
        <p:nvSpPr>
          <p:cNvPr id="9" name="Text 7"/>
          <p:cNvSpPr/>
          <p:nvPr/>
        </p:nvSpPr>
        <p:spPr>
          <a:xfrm>
            <a:off x="594360" y="1691640"/>
            <a:ext cx="173736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Stop the bleeding</a:t>
            </a:r>
            <a:endParaRPr lang="en-US" sz="1300" dirty="0"/>
          </a:p>
        </p:txBody>
      </p:sp>
      <p:sp>
        <p:nvSpPr>
          <p:cNvPr id="10" name="Text 8"/>
          <p:cNvSpPr/>
          <p:nvPr/>
        </p:nvSpPr>
        <p:spPr>
          <a:xfrm>
            <a:off x="594360" y="1947672"/>
            <a:ext cx="1737360" cy="256032"/>
          </a:xfrm>
          <a:prstGeom prst="rect">
            <a:avLst/>
          </a:prstGeom>
          <a:noFill/>
          <a:ln/>
        </p:spPr>
        <p:txBody>
          <a:bodyPr wrap="square" lIns="0" tIns="0" rIns="0" bIns="0" rtlCol="0" anchor="ctr"/>
          <a:lstStyle/>
          <a:p>
            <a:pPr indent="0" marL="0">
              <a:buNone/>
            </a:pPr>
            <a:r>
              <a:rPr lang="en-US" sz="1100" dirty="0">
                <a:solidFill>
                  <a:srgbClr val="DCFCE7"/>
                </a:solidFill>
                <a:latin typeface="Calibri" pitchFamily="34" charset="0"/>
                <a:ea typeface="Calibri" pitchFamily="34" charset="-122"/>
                <a:cs typeface="Calibri" pitchFamily="34" charset="-120"/>
              </a:rPr>
              <a:t>Before real traffic</a:t>
            </a:r>
            <a:endParaRPr lang="en-US" sz="1100" dirty="0"/>
          </a:p>
        </p:txBody>
      </p:sp>
      <p:sp>
        <p:nvSpPr>
          <p:cNvPr id="11" name="Text 9"/>
          <p:cNvSpPr/>
          <p:nvPr/>
        </p:nvSpPr>
        <p:spPr>
          <a:xfrm>
            <a:off x="594360" y="2331720"/>
            <a:ext cx="1737360" cy="2286000"/>
          </a:xfrm>
          <a:prstGeom prst="rect">
            <a:avLst/>
          </a:prstGeom>
          <a:noFill/>
          <a:ln/>
        </p:spPr>
        <p:txBody>
          <a:bodyPr wrap="square" lIns="0" tIns="0" rIns="0" bIns="0" rtlCol="0" anchor="t"/>
          <a:lstStyle/>
          <a:p>
            <a:pPr marL="177800" indent="-177800">
              <a:spcAft>
                <a:spcPts val="400"/>
              </a:spcAft>
              <a:buSzPct val="100000"/>
              <a:buChar char="•"/>
            </a:pPr>
            <a:r>
              <a:rPr lang="en-US" sz="1150" dirty="0">
                <a:solidFill>
                  <a:srgbClr val="1F2937"/>
                </a:solidFill>
                <a:latin typeface="Calibri" pitchFamily="34" charset="0"/>
                <a:ea typeface="Calibri" pitchFamily="34" charset="-122"/>
                <a:cs typeface="Calibri" pitchFamily="34" charset="-120"/>
              </a:rPr>
              <a:t>Close the payment test and webhook hole</a:t>
            </a:r>
            <a:endParaRPr lang="en-US" sz="1150" dirty="0"/>
          </a:p>
          <a:p>
            <a:pPr marL="177800" indent="-177800">
              <a:spcAft>
                <a:spcPts val="400"/>
              </a:spcAft>
              <a:buSzPct val="100000"/>
              <a:buChar char="•"/>
            </a:pPr>
            <a:r>
              <a:rPr lang="en-US" sz="1150" dirty="0">
                <a:solidFill>
                  <a:srgbClr val="1F2937"/>
                </a:solidFill>
                <a:latin typeface="Calibri" pitchFamily="34" charset="0"/>
                <a:ea typeface="Calibri" pitchFamily="34" charset="-122"/>
                <a:cs typeface="Calibri" pitchFamily="34" charset="-120"/>
              </a:rPr>
              <a:t>Stock check at reservation</a:t>
            </a:r>
            <a:endParaRPr lang="en-US" sz="1150" dirty="0"/>
          </a:p>
          <a:p>
            <a:pPr marL="177800" indent="-177800">
              <a:spcAft>
                <a:spcPts val="400"/>
              </a:spcAft>
              <a:buSzPct val="100000"/>
              <a:buChar char="•"/>
            </a:pPr>
            <a:r>
              <a:rPr lang="en-US" sz="1150" dirty="0">
                <a:solidFill>
                  <a:srgbClr val="1F2937"/>
                </a:solidFill>
                <a:latin typeface="Calibri" pitchFamily="34" charset="0"/>
                <a:ea typeface="Calibri" pitchFamily="34" charset="-122"/>
                <a:cs typeface="Calibri" pitchFamily="34" charset="-120"/>
              </a:rPr>
              <a:t>Block cancelled-order revival</a:t>
            </a:r>
            <a:endParaRPr lang="en-US" sz="1150" dirty="0"/>
          </a:p>
          <a:p>
            <a:pPr marL="177800" indent="-177800">
              <a:spcAft>
                <a:spcPts val="400"/>
              </a:spcAft>
              <a:buSzPct val="100000"/>
              <a:buChar char="•"/>
            </a:pPr>
            <a:r>
              <a:rPr lang="en-US" sz="1150" dirty="0">
                <a:solidFill>
                  <a:srgbClr val="1F2937"/>
                </a:solidFill>
                <a:latin typeface="Calibri" pitchFamily="34" charset="0"/>
                <a:ea typeface="Calibri" pitchFamily="34" charset="-122"/>
                <a:cs typeface="Calibri" pitchFamily="34" charset="-120"/>
              </a:rPr>
              <a:t>Rate limits, amount check on confirm</a:t>
            </a:r>
            <a:endParaRPr lang="en-US" sz="1150" dirty="0"/>
          </a:p>
          <a:p>
            <a:pPr marL="177800" indent="-177800">
              <a:spcAft>
                <a:spcPts val="400"/>
              </a:spcAft>
              <a:buSzPct val="100000"/>
              <a:buChar char="•"/>
            </a:pPr>
            <a:r>
              <a:rPr lang="en-US" sz="1150" dirty="0">
                <a:solidFill>
                  <a:srgbClr val="1F2937"/>
                </a:solidFill>
                <a:latin typeface="Calibri" pitchFamily="34" charset="0"/>
                <a:ea typeface="Calibri" pitchFamily="34" charset="-122"/>
                <a:cs typeface="Calibri" pitchFamily="34" charset="-120"/>
              </a:rPr>
              <a:t>Fix admin permissions, rotate key</a:t>
            </a:r>
            <a:endParaRPr lang="en-US" sz="1150" dirty="0"/>
          </a:p>
        </p:txBody>
      </p:sp>
      <p:sp>
        <p:nvSpPr>
          <p:cNvPr id="12" name="Shape 10"/>
          <p:cNvSpPr/>
          <p:nvPr/>
        </p:nvSpPr>
        <p:spPr>
          <a:xfrm>
            <a:off x="2560320" y="1371600"/>
            <a:ext cx="1920240" cy="3291840"/>
          </a:xfrm>
          <a:prstGeom prst="roundRect">
            <a:avLst>
              <a:gd name="adj" fmla="val 3810"/>
            </a:avLst>
          </a:prstGeom>
          <a:solidFill>
            <a:srgbClr val="F0FDF4"/>
          </a:solidFill>
          <a:ln w="12700">
            <a:solidFill>
              <a:srgbClr val="DCFCE7"/>
            </a:solidFill>
            <a:prstDash val="solid"/>
          </a:ln>
        </p:spPr>
      </p:sp>
      <p:sp>
        <p:nvSpPr>
          <p:cNvPr id="13" name="Shape 11"/>
          <p:cNvSpPr/>
          <p:nvPr/>
        </p:nvSpPr>
        <p:spPr>
          <a:xfrm>
            <a:off x="2560320" y="1371600"/>
            <a:ext cx="1920240" cy="868680"/>
          </a:xfrm>
          <a:prstGeom prst="roundRect">
            <a:avLst>
              <a:gd name="adj" fmla="val 8421"/>
            </a:avLst>
          </a:prstGeom>
          <a:solidFill>
            <a:srgbClr val="15803D"/>
          </a:solidFill>
          <a:ln w="12700">
            <a:solidFill>
              <a:srgbClr val="15803D"/>
            </a:solidFill>
            <a:prstDash val="solid"/>
          </a:ln>
        </p:spPr>
      </p:sp>
      <p:sp>
        <p:nvSpPr>
          <p:cNvPr id="14" name="Text 12"/>
          <p:cNvSpPr/>
          <p:nvPr/>
        </p:nvSpPr>
        <p:spPr>
          <a:xfrm>
            <a:off x="2651760" y="1389888"/>
            <a:ext cx="1737360" cy="32004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Phase B</a:t>
            </a:r>
            <a:endParaRPr lang="en-US" sz="1600" dirty="0"/>
          </a:p>
        </p:txBody>
      </p:sp>
      <p:sp>
        <p:nvSpPr>
          <p:cNvPr id="15" name="Text 13"/>
          <p:cNvSpPr/>
          <p:nvPr/>
        </p:nvSpPr>
        <p:spPr>
          <a:xfrm>
            <a:off x="2651760" y="1691640"/>
            <a:ext cx="173736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Correct and observable</a:t>
            </a:r>
            <a:endParaRPr lang="en-US" sz="1300" dirty="0"/>
          </a:p>
        </p:txBody>
      </p:sp>
      <p:sp>
        <p:nvSpPr>
          <p:cNvPr id="16" name="Text 14"/>
          <p:cNvSpPr/>
          <p:nvPr/>
        </p:nvSpPr>
        <p:spPr>
          <a:xfrm>
            <a:off x="2651760" y="1947672"/>
            <a:ext cx="1737360" cy="256032"/>
          </a:xfrm>
          <a:prstGeom prst="rect">
            <a:avLst/>
          </a:prstGeom>
          <a:noFill/>
          <a:ln/>
        </p:spPr>
        <p:txBody>
          <a:bodyPr wrap="square" lIns="0" tIns="0" rIns="0" bIns="0" rtlCol="0" anchor="ctr"/>
          <a:lstStyle/>
          <a:p>
            <a:pPr indent="0" marL="0">
              <a:buNone/>
            </a:pPr>
            <a:r>
              <a:rPr lang="en-US" sz="1100" dirty="0">
                <a:solidFill>
                  <a:srgbClr val="DCFCE7"/>
                </a:solidFill>
                <a:latin typeface="Calibri" pitchFamily="34" charset="0"/>
                <a:ea typeface="Calibri" pitchFamily="34" charset="-122"/>
                <a:cs typeface="Calibri" pitchFamily="34" charset="-120"/>
              </a:rPr>
              <a:t>Pilot go-live</a:t>
            </a:r>
            <a:endParaRPr lang="en-US" sz="1100" dirty="0"/>
          </a:p>
        </p:txBody>
      </p:sp>
      <p:sp>
        <p:nvSpPr>
          <p:cNvPr id="17" name="Text 15"/>
          <p:cNvSpPr/>
          <p:nvPr/>
        </p:nvSpPr>
        <p:spPr>
          <a:xfrm>
            <a:off x="2651760" y="2331720"/>
            <a:ext cx="1737360" cy="2286000"/>
          </a:xfrm>
          <a:prstGeom prst="rect">
            <a:avLst/>
          </a:prstGeom>
          <a:noFill/>
          <a:ln/>
        </p:spPr>
        <p:txBody>
          <a:bodyPr wrap="square" lIns="0" tIns="0" rIns="0" bIns="0" rtlCol="0" anchor="t"/>
          <a:lstStyle/>
          <a:p>
            <a:pPr marL="177800" indent="-177800">
              <a:spcAft>
                <a:spcPts val="400"/>
              </a:spcAft>
              <a:buSzPct val="100000"/>
              <a:buChar char="•"/>
            </a:pPr>
            <a:r>
              <a:rPr lang="en-US" sz="1150" dirty="0">
                <a:solidFill>
                  <a:srgbClr val="1F2937"/>
                </a:solidFill>
                <a:latin typeface="Calibri" pitchFamily="34" charset="0"/>
                <a:ea typeface="Calibri" pitchFamily="34" charset="-122"/>
                <a:cs typeface="Calibri" pitchFamily="34" charset="-120"/>
              </a:rPr>
              <a:t>Queue SMS and email</a:t>
            </a:r>
            <a:endParaRPr lang="en-US" sz="1150" dirty="0"/>
          </a:p>
          <a:p>
            <a:pPr marL="177800" indent="-177800">
              <a:spcAft>
                <a:spcPts val="400"/>
              </a:spcAft>
              <a:buSzPct val="100000"/>
              <a:buChar char="•"/>
            </a:pPr>
            <a:r>
              <a:rPr lang="en-US" sz="1150" dirty="0">
                <a:solidFill>
                  <a:srgbClr val="1F2937"/>
                </a:solidFill>
                <a:latin typeface="Calibri" pitchFamily="34" charset="0"/>
                <a:ea typeface="Calibri" pitchFamily="34" charset="-122"/>
                <a:cs typeface="Calibri" pitchFamily="34" charset="-120"/>
              </a:rPr>
              <a:t>Failed payment closes the order</a:t>
            </a:r>
            <a:endParaRPr lang="en-US" sz="1150" dirty="0"/>
          </a:p>
          <a:p>
            <a:pPr marL="177800" indent="-177800">
              <a:spcAft>
                <a:spcPts val="400"/>
              </a:spcAft>
              <a:buSzPct val="100000"/>
              <a:buChar char="•"/>
            </a:pPr>
            <a:r>
              <a:rPr lang="en-US" sz="1150" dirty="0">
                <a:solidFill>
                  <a:srgbClr val="1F2937"/>
                </a:solidFill>
                <a:latin typeface="Calibri" pitchFamily="34" charset="0"/>
                <a:ea typeface="Calibri" pitchFamily="34" charset="-122"/>
                <a:cs typeface="Calibri" pitchFamily="34" charset="-120"/>
              </a:rPr>
              <a:t>Private payment proofs</a:t>
            </a:r>
            <a:endParaRPr lang="en-US" sz="1150" dirty="0"/>
          </a:p>
          <a:p>
            <a:pPr marL="177800" indent="-177800">
              <a:spcAft>
                <a:spcPts val="400"/>
              </a:spcAft>
              <a:buSzPct val="100000"/>
              <a:buChar char="•"/>
            </a:pPr>
            <a:r>
              <a:rPr lang="en-US" sz="1150" dirty="0">
                <a:solidFill>
                  <a:srgbClr val="1F2937"/>
                </a:solidFill>
                <a:latin typeface="Calibri" pitchFamily="34" charset="0"/>
                <a:ea typeface="Calibri" pitchFamily="34" charset="-122"/>
                <a:cs typeface="Calibri" pitchFamily="34" charset="-120"/>
              </a:rPr>
              <a:t>CI that runs tests (MySQL)</a:t>
            </a:r>
            <a:endParaRPr lang="en-US" sz="1150" dirty="0"/>
          </a:p>
          <a:p>
            <a:pPr marL="177800" indent="-177800">
              <a:spcAft>
                <a:spcPts val="400"/>
              </a:spcAft>
              <a:buSzPct val="100000"/>
              <a:buChar char="•"/>
            </a:pPr>
            <a:r>
              <a:rPr lang="en-US" sz="1150" dirty="0">
                <a:solidFill>
                  <a:srgbClr val="1F2937"/>
                </a:solidFill>
                <a:latin typeface="Calibri" pitchFamily="34" charset="0"/>
                <a:ea typeface="Calibri" pitchFamily="34" charset="-122"/>
                <a:cs typeface="Calibri" pitchFamily="34" charset="-120"/>
              </a:rPr>
              <a:t>Escalation alerts, auto-complete</a:t>
            </a:r>
            <a:endParaRPr lang="en-US" sz="1150" dirty="0"/>
          </a:p>
        </p:txBody>
      </p:sp>
      <p:sp>
        <p:nvSpPr>
          <p:cNvPr id="18" name="Shape 16"/>
          <p:cNvSpPr/>
          <p:nvPr/>
        </p:nvSpPr>
        <p:spPr>
          <a:xfrm>
            <a:off x="4617720" y="1371600"/>
            <a:ext cx="1920240" cy="3291840"/>
          </a:xfrm>
          <a:prstGeom prst="roundRect">
            <a:avLst>
              <a:gd name="adj" fmla="val 3810"/>
            </a:avLst>
          </a:prstGeom>
          <a:solidFill>
            <a:srgbClr val="F0FDF4"/>
          </a:solidFill>
          <a:ln w="12700">
            <a:solidFill>
              <a:srgbClr val="DCFCE7"/>
            </a:solidFill>
            <a:prstDash val="solid"/>
          </a:ln>
        </p:spPr>
      </p:sp>
      <p:sp>
        <p:nvSpPr>
          <p:cNvPr id="19" name="Shape 17"/>
          <p:cNvSpPr/>
          <p:nvPr/>
        </p:nvSpPr>
        <p:spPr>
          <a:xfrm>
            <a:off x="4617720" y="1371600"/>
            <a:ext cx="1920240" cy="868680"/>
          </a:xfrm>
          <a:prstGeom prst="roundRect">
            <a:avLst>
              <a:gd name="adj" fmla="val 8421"/>
            </a:avLst>
          </a:prstGeom>
          <a:solidFill>
            <a:srgbClr val="15803D"/>
          </a:solidFill>
          <a:ln w="12700">
            <a:solidFill>
              <a:srgbClr val="15803D"/>
            </a:solidFill>
            <a:prstDash val="solid"/>
          </a:ln>
        </p:spPr>
      </p:sp>
      <p:sp>
        <p:nvSpPr>
          <p:cNvPr id="20" name="Text 18"/>
          <p:cNvSpPr/>
          <p:nvPr/>
        </p:nvSpPr>
        <p:spPr>
          <a:xfrm>
            <a:off x="4709160" y="1389888"/>
            <a:ext cx="1737360" cy="32004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Phase C</a:t>
            </a:r>
            <a:endParaRPr lang="en-US" sz="1600" dirty="0"/>
          </a:p>
        </p:txBody>
      </p:sp>
      <p:sp>
        <p:nvSpPr>
          <p:cNvPr id="21" name="Text 19"/>
          <p:cNvSpPr/>
          <p:nvPr/>
        </p:nvSpPr>
        <p:spPr>
          <a:xfrm>
            <a:off x="4709160" y="1691640"/>
            <a:ext cx="173736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Money and resilience</a:t>
            </a:r>
            <a:endParaRPr lang="en-US" sz="1300" dirty="0"/>
          </a:p>
        </p:txBody>
      </p:sp>
      <p:sp>
        <p:nvSpPr>
          <p:cNvPr id="22" name="Text 20"/>
          <p:cNvSpPr/>
          <p:nvPr/>
        </p:nvSpPr>
        <p:spPr>
          <a:xfrm>
            <a:off x="4709160" y="1947672"/>
            <a:ext cx="1737360" cy="256032"/>
          </a:xfrm>
          <a:prstGeom prst="rect">
            <a:avLst/>
          </a:prstGeom>
          <a:noFill/>
          <a:ln/>
        </p:spPr>
        <p:txBody>
          <a:bodyPr wrap="square" lIns="0" tIns="0" rIns="0" bIns="0" rtlCol="0" anchor="ctr"/>
          <a:lstStyle/>
          <a:p>
            <a:pPr indent="0" marL="0">
              <a:buNone/>
            </a:pPr>
            <a:r>
              <a:rPr lang="en-US" sz="1100" dirty="0">
                <a:solidFill>
                  <a:srgbClr val="DCFCE7"/>
                </a:solidFill>
                <a:latin typeface="Calibri" pitchFamily="34" charset="0"/>
                <a:ea typeface="Calibri" pitchFamily="34" charset="-122"/>
                <a:cs typeface="Calibri" pitchFamily="34" charset="-120"/>
              </a:rPr>
              <a:t>First weeks live</a:t>
            </a:r>
            <a:endParaRPr lang="en-US" sz="1100" dirty="0"/>
          </a:p>
        </p:txBody>
      </p:sp>
      <p:sp>
        <p:nvSpPr>
          <p:cNvPr id="23" name="Text 21"/>
          <p:cNvSpPr/>
          <p:nvPr/>
        </p:nvSpPr>
        <p:spPr>
          <a:xfrm>
            <a:off x="4709160" y="2331720"/>
            <a:ext cx="1737360" cy="2286000"/>
          </a:xfrm>
          <a:prstGeom prst="rect">
            <a:avLst/>
          </a:prstGeom>
          <a:noFill/>
          <a:ln/>
        </p:spPr>
        <p:txBody>
          <a:bodyPr wrap="square" lIns="0" tIns="0" rIns="0" bIns="0" rtlCol="0" anchor="t"/>
          <a:lstStyle/>
          <a:p>
            <a:pPr marL="177800" indent="-177800">
              <a:spcAft>
                <a:spcPts val="400"/>
              </a:spcAft>
              <a:buSzPct val="100000"/>
              <a:buChar char="•"/>
            </a:pPr>
            <a:r>
              <a:rPr lang="en-US" sz="1150" dirty="0">
                <a:solidFill>
                  <a:srgbClr val="1F2937"/>
                </a:solidFill>
                <a:latin typeface="Calibri" pitchFamily="34" charset="0"/>
                <a:ea typeface="Calibri" pitchFamily="34" charset="-122"/>
                <a:cs typeface="Calibri" pitchFamily="34" charset="-120"/>
              </a:rPr>
              <a:t>Real refunds and credits</a:t>
            </a:r>
            <a:endParaRPr lang="en-US" sz="1150" dirty="0"/>
          </a:p>
          <a:p>
            <a:pPr marL="177800" indent="-177800">
              <a:spcAft>
                <a:spcPts val="400"/>
              </a:spcAft>
              <a:buSzPct val="100000"/>
              <a:buChar char="•"/>
            </a:pPr>
            <a:r>
              <a:rPr lang="en-US" sz="1150" dirty="0">
                <a:solidFill>
                  <a:srgbClr val="1F2937"/>
                </a:solidFill>
                <a:latin typeface="Calibri" pitchFamily="34" charset="0"/>
                <a:ea typeface="Calibri" pitchFamily="34" charset="-122"/>
                <a:cs typeface="Calibri" pitchFamily="34" charset="-120"/>
              </a:rPr>
              <a:t>Coupon usage and admin</a:t>
            </a:r>
            <a:endParaRPr lang="en-US" sz="1150" dirty="0"/>
          </a:p>
          <a:p>
            <a:pPr marL="177800" indent="-177800">
              <a:spcAft>
                <a:spcPts val="400"/>
              </a:spcAft>
              <a:buSzPct val="100000"/>
              <a:buChar char="•"/>
            </a:pPr>
            <a:r>
              <a:rPr lang="en-US" sz="1150" dirty="0">
                <a:solidFill>
                  <a:srgbClr val="1F2937"/>
                </a:solidFill>
                <a:latin typeface="Calibri" pitchFamily="34" charset="0"/>
                <a:ea typeface="Calibri" pitchFamily="34" charset="-122"/>
                <a:cs typeface="Calibri" pitchFamily="34" charset="-120"/>
              </a:rPr>
              <a:t>Report snapshots</a:t>
            </a:r>
            <a:endParaRPr lang="en-US" sz="1150" dirty="0"/>
          </a:p>
          <a:p>
            <a:pPr marL="177800" indent="-177800">
              <a:spcAft>
                <a:spcPts val="400"/>
              </a:spcAft>
              <a:buSzPct val="100000"/>
              <a:buChar char="•"/>
            </a:pPr>
            <a:r>
              <a:rPr lang="en-US" sz="1150" dirty="0">
                <a:solidFill>
                  <a:srgbClr val="1F2937"/>
                </a:solidFill>
                <a:latin typeface="Calibri" pitchFamily="34" charset="0"/>
                <a:ea typeface="Calibri" pitchFamily="34" charset="-122"/>
                <a:cs typeface="Calibri" pitchFamily="34" charset="-120"/>
              </a:rPr>
              <a:t>Redis, backups, staging</a:t>
            </a:r>
            <a:endParaRPr lang="en-US" sz="1150" dirty="0"/>
          </a:p>
          <a:p>
            <a:pPr marL="177800" indent="-177800">
              <a:spcAft>
                <a:spcPts val="400"/>
              </a:spcAft>
              <a:buSzPct val="100000"/>
              <a:buChar char="•"/>
            </a:pPr>
            <a:r>
              <a:rPr lang="en-US" sz="1150" dirty="0">
                <a:solidFill>
                  <a:srgbClr val="1F2937"/>
                </a:solidFill>
                <a:latin typeface="Calibri" pitchFamily="34" charset="0"/>
                <a:ea typeface="Calibri" pitchFamily="34" charset="-122"/>
                <a:cs typeface="Calibri" pitchFamily="34" charset="-120"/>
              </a:rPr>
              <a:t>Re-enable MoMo safely</a:t>
            </a:r>
            <a:endParaRPr lang="en-US" sz="1150" dirty="0"/>
          </a:p>
        </p:txBody>
      </p:sp>
      <p:sp>
        <p:nvSpPr>
          <p:cNvPr id="24" name="Shape 22"/>
          <p:cNvSpPr/>
          <p:nvPr/>
        </p:nvSpPr>
        <p:spPr>
          <a:xfrm>
            <a:off x="6675120" y="1371600"/>
            <a:ext cx="1920240" cy="3291840"/>
          </a:xfrm>
          <a:prstGeom prst="roundRect">
            <a:avLst>
              <a:gd name="adj" fmla="val 3810"/>
            </a:avLst>
          </a:prstGeom>
          <a:solidFill>
            <a:srgbClr val="F0FDF4"/>
          </a:solidFill>
          <a:ln w="12700">
            <a:solidFill>
              <a:srgbClr val="DCFCE7"/>
            </a:solidFill>
            <a:prstDash val="solid"/>
          </a:ln>
        </p:spPr>
      </p:sp>
      <p:sp>
        <p:nvSpPr>
          <p:cNvPr id="25" name="Shape 23"/>
          <p:cNvSpPr/>
          <p:nvPr/>
        </p:nvSpPr>
        <p:spPr>
          <a:xfrm>
            <a:off x="6675120" y="1371600"/>
            <a:ext cx="1920240" cy="868680"/>
          </a:xfrm>
          <a:prstGeom prst="roundRect">
            <a:avLst>
              <a:gd name="adj" fmla="val 8421"/>
            </a:avLst>
          </a:prstGeom>
          <a:solidFill>
            <a:srgbClr val="15803D"/>
          </a:solidFill>
          <a:ln w="12700">
            <a:solidFill>
              <a:srgbClr val="15803D"/>
            </a:solidFill>
            <a:prstDash val="solid"/>
          </a:ln>
        </p:spPr>
      </p:sp>
      <p:sp>
        <p:nvSpPr>
          <p:cNvPr id="26" name="Text 24"/>
          <p:cNvSpPr/>
          <p:nvPr/>
        </p:nvSpPr>
        <p:spPr>
          <a:xfrm>
            <a:off x="6766560" y="1389888"/>
            <a:ext cx="1737360" cy="32004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Phase D</a:t>
            </a:r>
            <a:endParaRPr lang="en-US" sz="1600" dirty="0"/>
          </a:p>
        </p:txBody>
      </p:sp>
      <p:sp>
        <p:nvSpPr>
          <p:cNvPr id="27" name="Text 25"/>
          <p:cNvSpPr/>
          <p:nvPr/>
        </p:nvSpPr>
        <p:spPr>
          <a:xfrm>
            <a:off x="6766560" y="1691640"/>
            <a:ext cx="173736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Phase 2 scope</a:t>
            </a:r>
            <a:endParaRPr lang="en-US" sz="1300" dirty="0"/>
          </a:p>
        </p:txBody>
      </p:sp>
      <p:sp>
        <p:nvSpPr>
          <p:cNvPr id="28" name="Text 26"/>
          <p:cNvSpPr/>
          <p:nvPr/>
        </p:nvSpPr>
        <p:spPr>
          <a:xfrm>
            <a:off x="6766560" y="1947672"/>
            <a:ext cx="1737360" cy="256032"/>
          </a:xfrm>
          <a:prstGeom prst="rect">
            <a:avLst/>
          </a:prstGeom>
          <a:noFill/>
          <a:ln/>
        </p:spPr>
        <p:txBody>
          <a:bodyPr wrap="square" lIns="0" tIns="0" rIns="0" bIns="0" rtlCol="0" anchor="ctr"/>
          <a:lstStyle/>
          <a:p>
            <a:pPr indent="0" marL="0">
              <a:buNone/>
            </a:pPr>
            <a:r>
              <a:rPr lang="en-US" sz="1100" dirty="0">
                <a:solidFill>
                  <a:srgbClr val="DCFCE7"/>
                </a:solidFill>
                <a:latin typeface="Calibri" pitchFamily="34" charset="0"/>
                <a:ea typeface="Calibri" pitchFamily="34" charset="-122"/>
                <a:cs typeface="Calibri" pitchFamily="34" charset="-120"/>
              </a:rPr>
              <a:t>Design first</a:t>
            </a:r>
            <a:endParaRPr lang="en-US" sz="1100" dirty="0"/>
          </a:p>
        </p:txBody>
      </p:sp>
      <p:sp>
        <p:nvSpPr>
          <p:cNvPr id="29" name="Text 27"/>
          <p:cNvSpPr/>
          <p:nvPr/>
        </p:nvSpPr>
        <p:spPr>
          <a:xfrm>
            <a:off x="6766560" y="2331720"/>
            <a:ext cx="1737360" cy="2286000"/>
          </a:xfrm>
          <a:prstGeom prst="rect">
            <a:avLst/>
          </a:prstGeom>
          <a:noFill/>
          <a:ln/>
        </p:spPr>
        <p:txBody>
          <a:bodyPr wrap="square" lIns="0" tIns="0" rIns="0" bIns="0" rtlCol="0" anchor="t"/>
          <a:lstStyle/>
          <a:p>
            <a:pPr marL="177800" indent="-177800">
              <a:spcAft>
                <a:spcPts val="400"/>
              </a:spcAft>
              <a:buSzPct val="100000"/>
              <a:buChar char="•"/>
            </a:pPr>
            <a:r>
              <a:rPr lang="en-US" sz="1150" dirty="0">
                <a:solidFill>
                  <a:srgbClr val="1F2937"/>
                </a:solidFill>
                <a:latin typeface="Calibri" pitchFamily="34" charset="0"/>
                <a:ea typeface="Calibri" pitchFamily="34" charset="-122"/>
                <a:cs typeface="Calibri" pitchFamily="34" charset="-120"/>
              </a:rPr>
              <a:t>Variants as stock unit</a:t>
            </a:r>
            <a:endParaRPr lang="en-US" sz="1150" dirty="0"/>
          </a:p>
          <a:p>
            <a:pPr marL="177800" indent="-177800">
              <a:spcAft>
                <a:spcPts val="400"/>
              </a:spcAft>
              <a:buSzPct val="100000"/>
              <a:buChar char="•"/>
            </a:pPr>
            <a:r>
              <a:rPr lang="en-US" sz="1150" dirty="0">
                <a:solidFill>
                  <a:srgbClr val="1F2937"/>
                </a:solidFill>
                <a:latin typeface="Calibri" pitchFamily="34" charset="0"/>
                <a:ea typeface="Calibri" pitchFamily="34" charset="-122"/>
                <a:cs typeface="Calibri" pitchFamily="34" charset="-120"/>
              </a:rPr>
              <a:t>Reviews, wishlist, returns</a:t>
            </a:r>
            <a:endParaRPr lang="en-US" sz="1150" dirty="0"/>
          </a:p>
          <a:p>
            <a:pPr marL="177800" indent="-177800">
              <a:spcAft>
                <a:spcPts val="400"/>
              </a:spcAft>
              <a:buSzPct val="100000"/>
              <a:buChar char="•"/>
            </a:pPr>
            <a:r>
              <a:rPr lang="en-US" sz="1150" dirty="0">
                <a:solidFill>
                  <a:srgbClr val="1F2937"/>
                </a:solidFill>
                <a:latin typeface="Calibri" pitchFamily="34" charset="0"/>
                <a:ea typeface="Calibri" pitchFamily="34" charset="-122"/>
                <a:cs typeface="Calibri" pitchFamily="34" charset="-120"/>
              </a:rPr>
              <a:t>Better search</a:t>
            </a:r>
            <a:endParaRPr lang="en-US" sz="1150" dirty="0"/>
          </a:p>
          <a:p>
            <a:pPr marL="177800" indent="-177800">
              <a:spcAft>
                <a:spcPts val="400"/>
              </a:spcAft>
              <a:buSzPct val="100000"/>
              <a:buChar char="•"/>
            </a:pPr>
            <a:r>
              <a:rPr lang="en-US" sz="1150" dirty="0">
                <a:solidFill>
                  <a:srgbClr val="1F2937"/>
                </a:solidFill>
                <a:latin typeface="Calibri" pitchFamily="34" charset="0"/>
                <a:ea typeface="Calibri" pitchFamily="34" charset="-122"/>
                <a:cs typeface="Calibri" pitchFamily="34" charset="-120"/>
              </a:rPr>
              <a:t>Translations, phone cleanup</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5803D"/>
          </a:solidFill>
          <a:ln w="12700">
            <a:solidFill>
              <a:srgbClr val="15803D"/>
            </a:solidFill>
            <a:prstDash val="solid"/>
          </a:ln>
        </p:spPr>
      </p:sp>
      <p:sp>
        <p:nvSpPr>
          <p:cNvPr id="3" name="Text 1"/>
          <p:cNvSpPr/>
          <p:nvPr/>
        </p:nvSpPr>
        <p:spPr>
          <a:xfrm>
            <a:off x="502920" y="274320"/>
            <a:ext cx="8138160" cy="640080"/>
          </a:xfrm>
          <a:prstGeom prst="rect">
            <a:avLst/>
          </a:prstGeom>
          <a:noFill/>
          <a:ln/>
        </p:spPr>
        <p:txBody>
          <a:bodyPr wrap="square" lIns="0" tIns="0" rIns="0" bIns="0" rtlCol="0" anchor="ctr"/>
          <a:lstStyle/>
          <a:p>
            <a:pPr indent="0" marL="0">
              <a:buNone/>
            </a:pPr>
            <a:r>
              <a:rPr lang="en-US" sz="3200" b="1" dirty="0">
                <a:solidFill>
                  <a:srgbClr val="052312"/>
                </a:solidFill>
                <a:latin typeface="Calibri" pitchFamily="34" charset="0"/>
                <a:ea typeface="Calibri" pitchFamily="34" charset="-122"/>
                <a:cs typeface="Calibri" pitchFamily="34" charset="-120"/>
              </a:rPr>
              <a:t>Next steps and decisions needed</a:t>
            </a:r>
            <a:endParaRPr lang="en-US" sz="3200" dirty="0"/>
          </a:p>
        </p:txBody>
      </p:sp>
      <p:sp>
        <p:nvSpPr>
          <p:cNvPr id="4" name="Text 2"/>
          <p:cNvSpPr/>
          <p:nvPr/>
        </p:nvSpPr>
        <p:spPr>
          <a:xfrm>
            <a:off x="502920" y="4800600"/>
            <a:ext cx="8138160" cy="22860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CY-Market  |  System overview  |  10</a:t>
            </a:r>
            <a:endParaRPr lang="en-US" sz="1000" dirty="0"/>
          </a:p>
        </p:txBody>
      </p:sp>
      <p:sp>
        <p:nvSpPr>
          <p:cNvPr id="5" name="Text 3"/>
          <p:cNvSpPr/>
          <p:nvPr/>
        </p:nvSpPr>
        <p:spPr>
          <a:xfrm>
            <a:off x="502920" y="1097280"/>
            <a:ext cx="3931920" cy="320040"/>
          </a:xfrm>
          <a:prstGeom prst="rect">
            <a:avLst/>
          </a:prstGeom>
          <a:noFill/>
          <a:ln/>
        </p:spPr>
        <p:txBody>
          <a:bodyPr wrap="square" lIns="0" tIns="0" rIns="0" bIns="0" rtlCol="0" anchor="ctr"/>
          <a:lstStyle/>
          <a:p>
            <a:pPr indent="0" marL="0">
              <a:buNone/>
            </a:pPr>
            <a:r>
              <a:rPr lang="en-US" sz="1800" b="1" dirty="0">
                <a:solidFill>
                  <a:srgbClr val="052312"/>
                </a:solidFill>
                <a:latin typeface="Calibri" pitchFamily="34" charset="0"/>
                <a:ea typeface="Calibri" pitchFamily="34" charset="-122"/>
                <a:cs typeface="Calibri" pitchFamily="34" charset="-120"/>
              </a:rPr>
              <a:t>Decisions for the owner</a:t>
            </a:r>
            <a:endParaRPr lang="en-US" sz="1800" dirty="0"/>
          </a:p>
        </p:txBody>
      </p:sp>
      <p:sp>
        <p:nvSpPr>
          <p:cNvPr id="6" name="Text 4"/>
          <p:cNvSpPr/>
          <p:nvPr/>
        </p:nvSpPr>
        <p:spPr>
          <a:xfrm>
            <a:off x="502920" y="1463040"/>
            <a:ext cx="4023360" cy="301752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rgbClr val="1F2937"/>
                </a:solidFill>
                <a:latin typeface="Calibri" pitchFamily="34" charset="0"/>
                <a:ea typeface="Calibri" pitchFamily="34" charset="-122"/>
                <a:cs typeface="Calibri" pitchFamily="34" charset="-120"/>
              </a:rPr>
              <a:t>Approve Phase A as the gate before launch</a:t>
            </a:r>
            <a:endParaRPr lang="en-US" sz="1500" dirty="0"/>
          </a:p>
          <a:p>
            <a:pPr marL="177800" indent="-177800">
              <a:spcAft>
                <a:spcPts val="600"/>
              </a:spcAft>
              <a:buSzPct val="100000"/>
              <a:buChar char="•"/>
            </a:pPr>
            <a:r>
              <a:rPr lang="en-US" sz="1500" dirty="0">
                <a:solidFill>
                  <a:srgbClr val="1F2937"/>
                </a:solidFill>
                <a:latin typeface="Calibri" pitchFamily="34" charset="0"/>
                <a:ea typeface="Calibri" pitchFamily="34" charset="-122"/>
                <a:cs typeface="Calibri" pitchFamily="34" charset="-120"/>
              </a:rPr>
              <a:t>Manual transfers only for the pilot, or MoMo soon?</a:t>
            </a:r>
            <a:endParaRPr lang="en-US" sz="1500" dirty="0"/>
          </a:p>
          <a:p>
            <a:pPr marL="177800" indent="-177800">
              <a:spcAft>
                <a:spcPts val="600"/>
              </a:spcAft>
              <a:buSzPct val="100000"/>
              <a:buChar char="•"/>
            </a:pPr>
            <a:r>
              <a:rPr lang="en-US" sz="1500" dirty="0">
                <a:solidFill>
                  <a:srgbClr val="1F2937"/>
                </a:solidFill>
                <a:latin typeface="Calibri" pitchFamily="34" charset="0"/>
                <a:ea typeface="Calibri" pitchFamily="34" charset="-122"/>
                <a:cs typeface="Calibri" pitchFamily="34" charset="-120"/>
              </a:rPr>
              <a:t>Who may confirm payments? One person, or two for large amounts?</a:t>
            </a:r>
            <a:endParaRPr lang="en-US" sz="1500" dirty="0"/>
          </a:p>
          <a:p>
            <a:pPr marL="177800" indent="-177800">
              <a:spcAft>
                <a:spcPts val="600"/>
              </a:spcAft>
              <a:buSzPct val="100000"/>
              <a:buChar char="•"/>
            </a:pPr>
            <a:r>
              <a:rPr lang="en-US" sz="1500" dirty="0">
                <a:solidFill>
                  <a:srgbClr val="1F2937"/>
                </a:solidFill>
                <a:latin typeface="Calibri" pitchFamily="34" charset="0"/>
                <a:ea typeface="Calibri" pitchFamily="34" charset="-122"/>
                <a:cs typeface="Calibri" pitchFamily="34" charset="-120"/>
              </a:rPr>
              <a:t>How long to hold stock for an unpaid transfer?</a:t>
            </a:r>
            <a:endParaRPr lang="en-US" sz="1500" dirty="0"/>
          </a:p>
          <a:p>
            <a:pPr marL="177800" indent="-177800">
              <a:spcAft>
                <a:spcPts val="600"/>
              </a:spcAft>
              <a:buSzPct val="100000"/>
              <a:buChar char="•"/>
            </a:pPr>
            <a:r>
              <a:rPr lang="en-US" sz="1500" dirty="0">
                <a:solidFill>
                  <a:srgbClr val="1F2937"/>
                </a:solidFill>
                <a:latin typeface="Calibri" pitchFamily="34" charset="0"/>
                <a:ea typeface="Calibri" pitchFamily="34" charset="-122"/>
                <a:cs typeface="Calibri" pitchFamily="34" charset="-120"/>
              </a:rPr>
              <a:t>Variants now, or after the pilot?</a:t>
            </a:r>
            <a:endParaRPr lang="en-US" sz="1500" dirty="0"/>
          </a:p>
        </p:txBody>
      </p:sp>
      <p:sp>
        <p:nvSpPr>
          <p:cNvPr id="7" name="Shape 5"/>
          <p:cNvSpPr/>
          <p:nvPr/>
        </p:nvSpPr>
        <p:spPr>
          <a:xfrm>
            <a:off x="4754880" y="1097280"/>
            <a:ext cx="3886200" cy="3383280"/>
          </a:xfrm>
          <a:prstGeom prst="roundRect">
            <a:avLst>
              <a:gd name="adj" fmla="val 2703"/>
            </a:avLst>
          </a:prstGeom>
          <a:solidFill>
            <a:srgbClr val="052312"/>
          </a:solidFill>
          <a:ln w="12700">
            <a:solidFill>
              <a:srgbClr val="052312"/>
            </a:solidFill>
            <a:prstDash val="solid"/>
          </a:ln>
        </p:spPr>
      </p:sp>
      <p:sp>
        <p:nvSpPr>
          <p:cNvPr id="8" name="Text 6"/>
          <p:cNvSpPr/>
          <p:nvPr/>
        </p:nvSpPr>
        <p:spPr>
          <a:xfrm>
            <a:off x="4983480" y="1188720"/>
            <a:ext cx="3474720" cy="365760"/>
          </a:xfrm>
          <a:prstGeom prst="rect">
            <a:avLst/>
          </a:prstGeom>
          <a:noFill/>
          <a:ln/>
        </p:spPr>
        <p:txBody>
          <a:bodyPr wrap="square" lIns="0" tIns="0" rIns="0" bIns="0" rtlCol="0" anchor="ctr"/>
          <a:lstStyle/>
          <a:p>
            <a:pPr indent="0" marL="0">
              <a:buNone/>
            </a:pPr>
            <a:r>
              <a:rPr lang="en-US" sz="1800" b="1" dirty="0">
                <a:solidFill>
                  <a:srgbClr val="86EFAC"/>
                </a:solidFill>
                <a:latin typeface="Calibri" pitchFamily="34" charset="0"/>
                <a:ea typeface="Calibri" pitchFamily="34" charset="-122"/>
                <a:cs typeface="Calibri" pitchFamily="34" charset="-120"/>
              </a:rPr>
              <a:t>Do this week</a:t>
            </a:r>
            <a:endParaRPr lang="en-US" sz="1800" dirty="0"/>
          </a:p>
        </p:txBody>
      </p:sp>
      <p:sp>
        <p:nvSpPr>
          <p:cNvPr id="9" name="Text 7"/>
          <p:cNvSpPr/>
          <p:nvPr/>
        </p:nvSpPr>
        <p:spPr>
          <a:xfrm>
            <a:off x="4983480" y="1600200"/>
            <a:ext cx="3474720" cy="2743200"/>
          </a:xfrm>
          <a:prstGeom prst="rect">
            <a:avLst/>
          </a:prstGeom>
          <a:noFill/>
          <a:ln/>
        </p:spPr>
        <p:txBody>
          <a:bodyPr wrap="square" lIns="0" tIns="0" rIns="0" bIns="0" rtlCol="0" anchor="t"/>
          <a:lstStyle/>
          <a:p>
            <a:pPr marL="177800" indent="-1778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Rotate the exposed payment key and remove api.php from the project</a:t>
            </a:r>
            <a:endParaRPr lang="en-US" sz="1500" dirty="0"/>
          </a:p>
          <a:p>
            <a:pPr marL="177800" indent="-1778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Change the default admin passwords</a:t>
            </a:r>
            <a:endParaRPr lang="en-US" sz="1500" dirty="0"/>
          </a:p>
          <a:p>
            <a:pPr marL="177800" indent="-1778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Set the payment mode so test payments are off</a:t>
            </a:r>
            <a:endParaRPr lang="en-US" sz="1500" dirty="0"/>
          </a:p>
          <a:p>
            <a:pPr marL="177800" indent="-1778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Start Phase A fixes and add tests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2026-10-19T10:14:50Z</dcterms:created>
  <dcterms:modified xsi:type="dcterms:W3CDTF">2026-10-19T10:14:50Z</dcterms:modified>
</cp:coreProperties>
</file>